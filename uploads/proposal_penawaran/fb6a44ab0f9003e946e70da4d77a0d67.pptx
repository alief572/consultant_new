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1" r:id="rId2"/>
    <p:sldId id="257" r:id="rId3"/>
    <p:sldId id="258" r:id="rId4"/>
    <p:sldId id="259" r:id="rId5"/>
    <p:sldId id="260" r:id="rId6"/>
    <p:sldId id="1559" r:id="rId7"/>
    <p:sldId id="1560" r:id="rId8"/>
    <p:sldId id="261" r:id="rId9"/>
    <p:sldId id="262" r:id="rId10"/>
    <p:sldId id="1562" r:id="rId11"/>
    <p:sldId id="1563" r:id="rId12"/>
    <p:sldId id="1564" r:id="rId13"/>
    <p:sldId id="1565" r:id="rId14"/>
    <p:sldId id="1567" r:id="rId15"/>
    <p:sldId id="1568" r:id="rId16"/>
    <p:sldId id="1557" r:id="rId17"/>
    <p:sldId id="1570" r:id="rId18"/>
    <p:sldId id="1571" r:id="rId19"/>
    <p:sldId id="1569" r:id="rId20"/>
    <p:sldId id="1558" r:id="rId21"/>
    <p:sldId id="265" r:id="rId22"/>
    <p:sldId id="266" r:id="rId23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29" autoAdjust="0"/>
    <p:restoredTop sz="94426"/>
  </p:normalViewPr>
  <p:slideViewPr>
    <p:cSldViewPr snapToGrid="0">
      <p:cViewPr varScale="1">
        <p:scale>
          <a:sx n="92" d="100"/>
          <a:sy n="92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A3399-EC9A-B84C-BCAB-6FF871B93BA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394B3-FBE4-DA40-9478-933CEE1F3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87cf9be1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87cf9be1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0979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87cf9be1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87cf9be15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6221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c944b7625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c944b7625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023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8889d1e17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8889d1e17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D4E49EA8-9CCF-9755-10DD-79BC0209C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8889d1e17d_0_3:notes">
            <a:extLst>
              <a:ext uri="{FF2B5EF4-FFF2-40B4-BE49-F238E27FC236}">
                <a16:creationId xmlns:a16="http://schemas.microsoft.com/office/drawing/2014/main" id="{F786477C-5127-3362-3DCF-F93967D97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8889d1e17d_0_3:notes">
            <a:extLst>
              <a:ext uri="{FF2B5EF4-FFF2-40B4-BE49-F238E27FC236}">
                <a16:creationId xmlns:a16="http://schemas.microsoft.com/office/drawing/2014/main" id="{CB00642F-4FA4-E055-1889-0F68B95E3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0243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29A4EA4F-6A2A-5647-2152-3138E345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8889d1e17d_0_3:notes">
            <a:extLst>
              <a:ext uri="{FF2B5EF4-FFF2-40B4-BE49-F238E27FC236}">
                <a16:creationId xmlns:a16="http://schemas.microsoft.com/office/drawing/2014/main" id="{7C8EFA2D-5EE9-EDBB-729B-A9F195D48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8889d1e17d_0_3:notes">
            <a:extLst>
              <a:ext uri="{FF2B5EF4-FFF2-40B4-BE49-F238E27FC236}">
                <a16:creationId xmlns:a16="http://schemas.microsoft.com/office/drawing/2014/main" id="{21C2F7C5-3D01-E2A8-2B29-7439CFCC7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392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8889d1e17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8889d1e17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c944b7625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c944b7625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7D5FF1C-677E-9E34-3021-012E592A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c944b7625b_0_14:notes">
            <a:extLst>
              <a:ext uri="{FF2B5EF4-FFF2-40B4-BE49-F238E27FC236}">
                <a16:creationId xmlns:a16="http://schemas.microsoft.com/office/drawing/2014/main" id="{999BFA27-FCA3-8817-B6B2-10BD92F7F7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c944b7625b_0_14:notes">
            <a:extLst>
              <a:ext uri="{FF2B5EF4-FFF2-40B4-BE49-F238E27FC236}">
                <a16:creationId xmlns:a16="http://schemas.microsoft.com/office/drawing/2014/main" id="{CD1E23F0-9260-17F9-630B-03D02AC99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372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3EE45E7-3E84-F133-A895-736C1E64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c944b7625b_0_14:notes">
            <a:extLst>
              <a:ext uri="{FF2B5EF4-FFF2-40B4-BE49-F238E27FC236}">
                <a16:creationId xmlns:a16="http://schemas.microsoft.com/office/drawing/2014/main" id="{A1DD31DC-5DD5-C038-9F30-ED2DA2D21D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c944b7625b_0_14:notes">
            <a:extLst>
              <a:ext uri="{FF2B5EF4-FFF2-40B4-BE49-F238E27FC236}">
                <a16:creationId xmlns:a16="http://schemas.microsoft.com/office/drawing/2014/main" id="{23FC5C9D-59EF-220E-C1F5-0731565D4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4108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EAF7463-A759-158F-AA94-868ADB8A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c944b7625b_0_14:notes">
            <a:extLst>
              <a:ext uri="{FF2B5EF4-FFF2-40B4-BE49-F238E27FC236}">
                <a16:creationId xmlns:a16="http://schemas.microsoft.com/office/drawing/2014/main" id="{B4FF6651-13DF-235C-30C1-832B19DD4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c944b7625b_0_14:notes">
            <a:extLst>
              <a:ext uri="{FF2B5EF4-FFF2-40B4-BE49-F238E27FC236}">
                <a16:creationId xmlns:a16="http://schemas.microsoft.com/office/drawing/2014/main" id="{1BF55223-829E-8332-BDF4-842517D5E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573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E1AB01F-FDAA-B04D-F033-B19232F83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c944b7625b_0_14:notes">
            <a:extLst>
              <a:ext uri="{FF2B5EF4-FFF2-40B4-BE49-F238E27FC236}">
                <a16:creationId xmlns:a16="http://schemas.microsoft.com/office/drawing/2014/main" id="{BB4A2430-22CE-3FF3-23ED-0234CC71DB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c944b7625b_0_14:notes">
            <a:extLst>
              <a:ext uri="{FF2B5EF4-FFF2-40B4-BE49-F238E27FC236}">
                <a16:creationId xmlns:a16="http://schemas.microsoft.com/office/drawing/2014/main" id="{856204D0-F995-1CB6-0FEF-4CC57BEEB9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4756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2B01A70-B47E-FD94-1D7F-D2ACA4F6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c944b7625b_0_14:notes">
            <a:extLst>
              <a:ext uri="{FF2B5EF4-FFF2-40B4-BE49-F238E27FC236}">
                <a16:creationId xmlns:a16="http://schemas.microsoft.com/office/drawing/2014/main" id="{C65E9068-2363-E373-4F1D-BB7558046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c944b7625b_0_14:notes">
            <a:extLst>
              <a:ext uri="{FF2B5EF4-FFF2-40B4-BE49-F238E27FC236}">
                <a16:creationId xmlns:a16="http://schemas.microsoft.com/office/drawing/2014/main" id="{9271E555-747C-A835-CC17-4D4CA249A7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902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AE99CE8-75D1-F521-DA30-293E70A7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c944b7625b_0_14:notes">
            <a:extLst>
              <a:ext uri="{FF2B5EF4-FFF2-40B4-BE49-F238E27FC236}">
                <a16:creationId xmlns:a16="http://schemas.microsoft.com/office/drawing/2014/main" id="{AB0B5478-C5C0-2749-4268-2C90664CF7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c944b7625b_0_14:notes">
            <a:extLst>
              <a:ext uri="{FF2B5EF4-FFF2-40B4-BE49-F238E27FC236}">
                <a16:creationId xmlns:a16="http://schemas.microsoft.com/office/drawing/2014/main" id="{978F4C1F-34BA-DAB2-BB71-8309F02E0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077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c944b7625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c944b7625b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6844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8889d1e17d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8889d1e17d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62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402A-A1BA-9685-FB57-C0F2D8B73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A8CCE-2E09-0C69-08FF-A82863DFE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3ADCD-341E-F0CA-2C65-F599158C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FE0AB-9397-CF7F-C3A1-BA17BE9B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64B44-81A7-9FE3-97C9-E71A1B4D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666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A8DA-9FD1-269B-9163-F2E36FB3D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BCD9C-5468-C2CA-E403-B9A751EF9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2CC7-A89C-F846-3BEE-858D42EA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1EF21-5C96-E50B-E264-B3A370D1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BC21A-7E95-5229-97E8-B99EEABF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964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A12E-F2A8-8FC5-BAEC-294B8AD8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2F815-9E52-9819-6F3A-2BB005E08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1F118-3554-E344-40D3-1471F2D13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9E0F7-8A54-A329-1DD7-9DFB6F95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7B982-D5BB-AA11-4C55-D52C25E2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105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2AFA-2082-272A-0F22-42AAF67B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A448A-2967-DCEB-0A2A-3DB7835EC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C8F3C-550D-4479-5DC4-7DE63249C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551B6-2DFD-768C-C0B1-79DE7FEE2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F6B7B-9130-60DF-C033-86C5838CB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43C6A-4F93-F3BE-A173-62BAA74C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5966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52EF-AD5B-D651-7896-73F1C269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DD30E-1987-6DD1-5F12-9752B06CE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FE1BB-FFF3-8CFA-7F2E-817598912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CA363-78AB-1975-E9A7-2F7FD32A3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F2E22-5F77-783F-85C3-DEFD5F7963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8C5407-5A58-F51E-26CB-4392DEAE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439E9-B0A4-DE81-01D5-93DD367B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369BFC-3DAC-42BC-D97D-AA60B9A0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0771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9EA7D-2CA2-8CB2-03AD-A5B140F58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8B6B8A-16A5-843D-D932-4C1E5B439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FBABF-9220-0732-F6CD-FF11867F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809F5-39C4-9D41-C4FD-90A717A5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3846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3E042-BBA4-55DD-ACFE-D1B96B79D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68F9B-4B0D-86F6-E672-3FD8F7977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CB9D7-1498-D3F9-C4E3-F4A09C2A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685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0C399-BEDF-8E86-5151-D376F77B7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03727-15BC-449C-A3AD-BF94444EC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426AF-ECB5-ABD6-1E4C-58D2D5516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53A86-8D08-C1F7-83AB-6B5298221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9369D-8D6A-426B-E55F-E7E1532C1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2232-096A-80CF-FD21-56144B23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096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6E08-D445-9001-B5F6-A764A5501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027C26-8804-86B7-10A7-952C8B008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AC399-2ED8-2CB1-B5AA-690BAE7B5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76EA3-A752-91A2-3CF6-F9C4C954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2CC64-B1DC-8D05-CDC5-A9CE96C5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8D592-B936-3D29-E042-74213DA1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421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FED2-32D7-5570-4362-98685B9F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376A9-1A19-D969-6827-2CE8F4833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62A54-4B2C-89F8-CE9F-84CCB1B56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AC1EE-5338-C671-F47F-680B0BDE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2FC57-3705-7FE7-3FA4-FA85DFF2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108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AFD59B-A805-83B8-2163-A998FE4ADC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29D6F-84B5-5683-1263-FFB4D71F1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BCBD0-B00B-63A6-CFDE-059DD04D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DA722-FD07-7E12-78CF-2C9748209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16089-906C-C40D-1301-B30E2964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0802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6127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8805D-4570-DD08-2CFE-6E39B5BA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803AD-FD35-321C-E296-DD8D2037D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B0DFA-2836-8AB5-20EF-B432CF13E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9F50A-1979-49A9-A3CC-178EBE1FBEAA}" type="datetimeFigureOut">
              <a:rPr lang="en-ID" smtClean="0"/>
              <a:t>28/10/25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2133D-011B-1223-FAE7-6447FA5DE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99C7-A233-4D14-414D-7FD591B19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A041B-E1DB-43D3-B6C2-D671FA8A30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83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99A62C-5C50-A27E-B365-ECE43B212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F4E07-8566-254D-B067-5C7C88742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085" y="1938173"/>
            <a:ext cx="10507825" cy="242962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D" sz="3600" i="1" dirty="0">
                <a:solidFill>
                  <a:schemeClr val="bg1"/>
                </a:solidFill>
              </a:rPr>
              <a:t>Business Process Re-engineering</a:t>
            </a:r>
            <a:r>
              <a:rPr lang="en-ID" sz="3600" dirty="0">
                <a:solidFill>
                  <a:schemeClr val="bg1"/>
                </a:solidFill>
              </a:rPr>
              <a:t> (BPR), </a:t>
            </a:r>
          </a:p>
          <a:p>
            <a:pPr marL="0" indent="0" algn="ctr">
              <a:buNone/>
            </a:pPr>
            <a:r>
              <a:rPr lang="en-ID" sz="3600" i="1" dirty="0">
                <a:solidFill>
                  <a:schemeClr val="bg1"/>
                </a:solidFill>
              </a:rPr>
              <a:t>Enterprise Resource Planning</a:t>
            </a:r>
            <a:r>
              <a:rPr lang="en-ID" sz="3600" dirty="0">
                <a:solidFill>
                  <a:schemeClr val="bg1"/>
                </a:solidFill>
              </a:rPr>
              <a:t> (ERP), </a:t>
            </a:r>
          </a:p>
          <a:p>
            <a:pPr marL="0" indent="0" algn="ctr">
              <a:buNone/>
            </a:pPr>
            <a:r>
              <a:rPr lang="en-ID" sz="3600" dirty="0">
                <a:solidFill>
                  <a:schemeClr val="bg1"/>
                </a:solidFill>
              </a:rPr>
              <a:t>KPI </a:t>
            </a:r>
            <a:r>
              <a:rPr lang="en-ID" sz="3600" dirty="0" err="1">
                <a:solidFill>
                  <a:schemeClr val="bg1"/>
                </a:solidFill>
              </a:rPr>
              <a:t>terintegrasi</a:t>
            </a:r>
            <a:r>
              <a:rPr lang="en-ID" sz="3600" dirty="0">
                <a:solidFill>
                  <a:schemeClr val="bg1"/>
                </a:solidFill>
              </a:rPr>
              <a:t> </a:t>
            </a:r>
            <a:r>
              <a:rPr lang="en-ID" sz="3600" dirty="0" err="1">
                <a:solidFill>
                  <a:schemeClr val="bg1"/>
                </a:solidFill>
              </a:rPr>
              <a:t>dengan</a:t>
            </a:r>
            <a:r>
              <a:rPr lang="en-ID" sz="3600" dirty="0">
                <a:solidFill>
                  <a:schemeClr val="bg1"/>
                </a:solidFill>
              </a:rPr>
              <a:t> ERP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EA1B6-42BE-C936-288A-A6F3F6C005F8}"/>
              </a:ext>
            </a:extLst>
          </p:cNvPr>
          <p:cNvSpPr txBox="1"/>
          <p:nvPr/>
        </p:nvSpPr>
        <p:spPr>
          <a:xfrm>
            <a:off x="1083020" y="4046991"/>
            <a:ext cx="1002595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D" sz="4400" dirty="0">
                <a:solidFill>
                  <a:schemeClr val="bg1"/>
                </a:solidFill>
                <a:latin typeface="Montserrat ExtraBold" panose="00000900000000000000" pitchFamily="2" charset="0"/>
              </a:rPr>
              <a:t>PT Harapan Fajar </a:t>
            </a:r>
            <a:r>
              <a:rPr lang="en-ID" sz="4400" dirty="0" err="1">
                <a:solidFill>
                  <a:schemeClr val="bg1"/>
                </a:solidFill>
                <a:latin typeface="Montserrat ExtraBold" panose="00000900000000000000" pitchFamily="2" charset="0"/>
              </a:rPr>
              <a:t>Gemilang</a:t>
            </a:r>
            <a:endParaRPr lang="en-ID" sz="4400" dirty="0">
              <a:solidFill>
                <a:schemeClr val="bg1"/>
              </a:solidFill>
              <a:latin typeface="Montserrat ExtraBold" panose="00000900000000000000" pitchFamily="2" charset="0"/>
            </a:endParaRPr>
          </a:p>
          <a:p>
            <a:pPr marL="0" indent="0" algn="ctr">
              <a:buNone/>
            </a:pPr>
            <a:r>
              <a:rPr lang="en-ID" sz="4400" dirty="0">
                <a:solidFill>
                  <a:schemeClr val="bg1"/>
                </a:solidFill>
                <a:latin typeface="Montserrat ExtraBold" panose="00000900000000000000" pitchFamily="2" charset="0"/>
              </a:rPr>
              <a:t>Dan PT Harapan </a:t>
            </a:r>
            <a:r>
              <a:rPr lang="en-ID" sz="4400" dirty="0" err="1">
                <a:solidFill>
                  <a:schemeClr val="bg1"/>
                </a:solidFill>
                <a:latin typeface="Montserrat ExtraBold" panose="00000900000000000000" pitchFamily="2" charset="0"/>
              </a:rPr>
              <a:t>Sukses</a:t>
            </a:r>
            <a:r>
              <a:rPr lang="en-ID" sz="4400" dirty="0">
                <a:solidFill>
                  <a:schemeClr val="bg1"/>
                </a:solidFill>
                <a:latin typeface="Montserrat ExtraBold" panose="00000900000000000000" pitchFamily="2" charset="0"/>
              </a:rPr>
              <a:t> Jaya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E130C4-16B8-434F-C5BD-26DD680D0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1" y="369429"/>
            <a:ext cx="1979317" cy="5657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86D654-F0EC-7948-A6E3-8AE2C7B48DCA}"/>
              </a:ext>
            </a:extLst>
          </p:cNvPr>
          <p:cNvSpPr txBox="1"/>
          <p:nvPr/>
        </p:nvSpPr>
        <p:spPr>
          <a:xfrm>
            <a:off x="8368145" y="6083804"/>
            <a:ext cx="3364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800" b="1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No. 055/VSB/INT-IM/X/25 Rev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09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" y="0"/>
            <a:ext cx="1218726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37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" y="0"/>
            <a:ext cx="1218726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292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" y="0"/>
            <a:ext cx="1218726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256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" y="0"/>
            <a:ext cx="121872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731333" y="1483367"/>
            <a:ext cx="10937200" cy="5070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just">
              <a:spcBef>
                <a:spcPts val="1333"/>
              </a:spcBef>
              <a:buClr>
                <a:schemeClr val="dk1"/>
              </a:buClr>
              <a:buSzPts val="1100"/>
              <a:buNone/>
            </a:pP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Keberhasilan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Perusahaan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dipengaruhi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oleh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beberapa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faktor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yang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saling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bersinergi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diantaranya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yaitu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sz="2267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8722" algn="just">
              <a:spcBef>
                <a:spcPts val="1333"/>
              </a:spcBef>
              <a:buClr>
                <a:schemeClr val="lt1"/>
              </a:buClr>
              <a:buSzPts val="1700"/>
              <a:buFont typeface="Calibri"/>
              <a:buAutoNum type="arabicPeriod"/>
            </a:pP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Perusahaan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perlu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memiliki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OTOMASI BISNIS PROSES (ERP)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yang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terintegrasi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menggunakan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prinsip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proses yang Lean 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(ramping),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memiliki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kontrol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proteksi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terhadap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kesalahan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dan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mampu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memberikan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data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secara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time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kebutuhan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monitor dan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analisis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67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8722" algn="just">
              <a:buClr>
                <a:schemeClr val="lt1"/>
              </a:buClr>
              <a:buSzPts val="1700"/>
              <a:buFont typeface="Calibri"/>
              <a:buAutoNum type="arabicPeriod"/>
            </a:pP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Memiliki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Personal yang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memiliki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motivasi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selalu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berkembang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personal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selalu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berpikir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kedepan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mempersiapkan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masa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depan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Perusahaan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untuk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menghadapi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tantangan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persaingan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masa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67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8722" algn="just">
              <a:buClr>
                <a:schemeClr val="lt1"/>
              </a:buClr>
              <a:buSzPts val="1700"/>
              <a:buFont typeface="Calibri"/>
              <a:buAutoNum type="arabicPeriod"/>
            </a:pP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Memiliki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Strategi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Keuangan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yang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terintegrasi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dengan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OTOMASI BISNIS PROSES (ERP),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dimana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proyeksi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keuangan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267" b="1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 costing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" sz="2267" b="1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cost control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2267" b="1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budget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sudah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menjadi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bagian</a:t>
            </a:r>
            <a:r>
              <a:rPr lang="en" sz="2267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dalam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OTOMASI BISNIS PROSES (ERP,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memastikan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strategi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keuangan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terkontrol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dan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terevaluasi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secara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kontinu</a:t>
            </a:r>
            <a:r>
              <a:rPr lang="en" sz="2267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47266" y="-93933"/>
            <a:ext cx="15730865" cy="173143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731333" y="629267"/>
            <a:ext cx="7754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813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Latar</a:t>
            </a:r>
            <a:r>
              <a:rPr lang="en" sz="3813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813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Belakang</a:t>
            </a:r>
            <a:endParaRPr sz="1893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5700A1F5-30A1-5A89-B154-1E58F5A8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>
            <a:extLst>
              <a:ext uri="{FF2B5EF4-FFF2-40B4-BE49-F238E27FC236}">
                <a16:creationId xmlns:a16="http://schemas.microsoft.com/office/drawing/2014/main" id="{016AA007-1348-FC66-5317-22AB27FD9B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" y="0"/>
            <a:ext cx="121872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4D0191D6-783F-3978-7A9C-186725435C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333" y="1731433"/>
            <a:ext cx="10937200" cy="429789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Stok </a:t>
            </a:r>
            <a:r>
              <a:rPr lang="en-US" sz="2000" dirty="0" err="1">
                <a:solidFill>
                  <a:schemeClr val="bg1"/>
                </a:solidFill>
              </a:rPr>
              <a:t>opname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sering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selisih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chemeClr val="bg1"/>
                </a:solidFill>
              </a:rPr>
              <a:t>Perpindahan</a:t>
            </a:r>
            <a:r>
              <a:rPr lang="en-US" sz="2000" dirty="0">
                <a:solidFill>
                  <a:schemeClr val="bg1"/>
                </a:solidFill>
              </a:rPr>
              <a:t> data yang </a:t>
            </a:r>
            <a:r>
              <a:rPr lang="en-US" sz="2000" dirty="0" err="1">
                <a:solidFill>
                  <a:schemeClr val="bg1"/>
                </a:solidFill>
              </a:rPr>
              <a:t>masih</a:t>
            </a:r>
            <a:r>
              <a:rPr lang="en-US" sz="2000" dirty="0">
                <a:solidFill>
                  <a:schemeClr val="bg1"/>
                </a:solidFill>
              </a:rPr>
              <a:t> manual, </a:t>
            </a:r>
            <a:r>
              <a:rPr lang="en-US" sz="2000" dirty="0" err="1">
                <a:solidFill>
                  <a:schemeClr val="bg1"/>
                </a:solidFill>
              </a:rPr>
              <a:t>kesalahan</a:t>
            </a:r>
            <a:r>
              <a:rPr lang="en-US" sz="2000" dirty="0">
                <a:solidFill>
                  <a:schemeClr val="bg1"/>
                </a:solidFill>
              </a:rPr>
              <a:t> input data, </a:t>
            </a:r>
            <a:r>
              <a:rPr lang="en-US" sz="2000" dirty="0" err="1">
                <a:solidFill>
                  <a:schemeClr val="bg1"/>
                </a:solidFill>
              </a:rPr>
              <a:t>lemah</a:t>
            </a:r>
            <a:r>
              <a:rPr lang="en-US" sz="2000" dirty="0">
                <a:solidFill>
                  <a:schemeClr val="bg1"/>
                </a:solidFill>
              </a:rPr>
              <a:t> di </a:t>
            </a:r>
            <a:r>
              <a:rPr lang="en-US" sz="2000" dirty="0" err="1">
                <a:solidFill>
                  <a:schemeClr val="bg1"/>
                </a:solidFill>
              </a:rPr>
              <a:t>kontrol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mengakibatkan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terjadinya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selisih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 err="1">
                <a:solidFill>
                  <a:schemeClr val="bg1"/>
                </a:solidFill>
              </a:rPr>
              <a:t>Informasi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diperolah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terdapat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kasus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selisih</a:t>
            </a:r>
            <a:r>
              <a:rPr lang="en-US" sz="2000" dirty="0">
                <a:solidFill>
                  <a:schemeClr val="bg1"/>
                </a:solidFill>
              </a:rPr>
              <a:t> yang </a:t>
            </a:r>
            <a:r>
              <a:rPr lang="en-US" sz="2000" dirty="0" err="1">
                <a:solidFill>
                  <a:schemeClr val="bg1"/>
                </a:solidFill>
              </a:rPr>
              <a:t>justru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infornya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datang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Customer </a:t>
            </a:r>
            <a:r>
              <a:rPr lang="en-US" sz="2000" dirty="0" err="1">
                <a:solidFill>
                  <a:schemeClr val="bg1"/>
                </a:solidFill>
              </a:rPr>
              <a:t>atau</a:t>
            </a:r>
            <a:r>
              <a:rPr lang="en-US" sz="2000" dirty="0">
                <a:solidFill>
                  <a:schemeClr val="bg1"/>
                </a:solidFill>
              </a:rPr>
              <a:t> supplier.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Proses input </a:t>
            </a:r>
            <a:r>
              <a:rPr lang="en-US" sz="2000" dirty="0" err="1">
                <a:solidFill>
                  <a:schemeClr val="bg1"/>
                </a:solidFill>
              </a:rPr>
              <a:t>berulang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tulis</a:t>
            </a:r>
            <a:r>
              <a:rPr lang="en-US" sz="2000" dirty="0">
                <a:solidFill>
                  <a:schemeClr val="bg1"/>
                </a:solidFill>
              </a:rPr>
              <a:t> manual 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 input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ke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excel  input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lagi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ke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accurate,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membuat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proses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menjadi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panjang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dan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menyimpan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potensi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kesalahan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input.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Untuk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mengatasi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beberapa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kelemahan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di accurate,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dilakukan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job posting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secara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manual.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Misalnya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dilakukan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job posting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karena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namanya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 </a:t>
            </a:r>
            <a:r>
              <a:rPr lang="en-US" sz="2000" dirty="0" err="1">
                <a:solidFill>
                  <a:schemeClr val="bg1"/>
                </a:solidFill>
                <a:sym typeface="Wingdings" pitchFamily="2" charset="2"/>
              </a:rPr>
              <a:t>berbeda</a:t>
            </a:r>
            <a:r>
              <a:rPr lang="en-US" sz="2000" dirty="0">
                <a:solidFill>
                  <a:schemeClr val="bg1"/>
                </a:solidFill>
                <a:sym typeface="Wingdings" pitchFamily="2" charset="2"/>
              </a:rPr>
              <a:t>. </a:t>
            </a: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chemeClr val="bg1"/>
                </a:solidFill>
              </a:rPr>
              <a:t>Kesulitan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dalam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menganalisa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komponen</a:t>
            </a:r>
            <a:r>
              <a:rPr lang="en-US" sz="2000" dirty="0">
                <a:solidFill>
                  <a:schemeClr val="bg1"/>
                </a:solidFill>
              </a:rPr>
              <a:t> HPP.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chemeClr val="bg1"/>
                </a:solidFill>
              </a:rPr>
              <a:t>Pengaturan</a:t>
            </a:r>
            <a:r>
              <a:rPr lang="en-US" sz="2000" dirty="0">
                <a:solidFill>
                  <a:schemeClr val="bg1"/>
                </a:solidFill>
              </a:rPr>
              <a:t> material, </a:t>
            </a:r>
            <a:r>
              <a:rPr lang="en-US" sz="2000" dirty="0" err="1">
                <a:solidFill>
                  <a:schemeClr val="bg1"/>
                </a:solidFill>
              </a:rPr>
              <a:t>antara</a:t>
            </a:r>
            <a:r>
              <a:rPr lang="en-US" sz="2000" dirty="0">
                <a:solidFill>
                  <a:schemeClr val="bg1"/>
                </a:solidFill>
              </a:rPr>
              <a:t> material </a:t>
            </a:r>
            <a:r>
              <a:rPr lang="en-US" sz="2000" dirty="0" err="1">
                <a:solidFill>
                  <a:schemeClr val="bg1"/>
                </a:solidFill>
              </a:rPr>
              <a:t>jual</a:t>
            </a:r>
            <a:r>
              <a:rPr lang="en-US" sz="2000" dirty="0">
                <a:solidFill>
                  <a:schemeClr val="bg1"/>
                </a:solidFill>
              </a:rPr>
              <a:t> coil vs material </a:t>
            </a:r>
            <a:r>
              <a:rPr lang="en-US" sz="2000" dirty="0" err="1">
                <a:solidFill>
                  <a:schemeClr val="bg1"/>
                </a:solidFill>
              </a:rPr>
              <a:t>produksi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terutama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terjadi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perpindahan</a:t>
            </a:r>
            <a:r>
              <a:rPr lang="en-US" sz="2000" dirty="0">
                <a:solidFill>
                  <a:schemeClr val="bg1"/>
                </a:solidFill>
              </a:rPr>
              <a:t> material, </a:t>
            </a:r>
            <a:r>
              <a:rPr lang="en-US" sz="2000" dirty="0" err="1">
                <a:solidFill>
                  <a:schemeClr val="bg1"/>
                </a:solidFill>
              </a:rPr>
              <a:t>dari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jual</a:t>
            </a:r>
            <a:r>
              <a:rPr lang="en-US" sz="2000" dirty="0">
                <a:solidFill>
                  <a:schemeClr val="bg1"/>
                </a:solidFill>
              </a:rPr>
              <a:t> coil </a:t>
            </a:r>
            <a:r>
              <a:rPr lang="en-US" sz="2000" dirty="0" err="1">
                <a:solidFill>
                  <a:schemeClr val="bg1"/>
                </a:solidFill>
              </a:rPr>
              <a:t>menjadi</a:t>
            </a:r>
            <a:r>
              <a:rPr lang="en-US" sz="2000" dirty="0">
                <a:solidFill>
                  <a:schemeClr val="bg1"/>
                </a:solidFill>
              </a:rPr>
              <a:t> material </a:t>
            </a:r>
            <a:r>
              <a:rPr lang="en-US" sz="2000" dirty="0" err="1">
                <a:solidFill>
                  <a:schemeClr val="bg1"/>
                </a:solidFill>
              </a:rPr>
              <a:t>produksi</a:t>
            </a:r>
            <a:r>
              <a:rPr lang="en-US" sz="2000" dirty="0">
                <a:solidFill>
                  <a:schemeClr val="bg1"/>
                </a:solidFill>
              </a:rPr>
              <a:t>, dan </a:t>
            </a:r>
            <a:r>
              <a:rPr lang="en-US" sz="2000" dirty="0" err="1">
                <a:solidFill>
                  <a:schemeClr val="bg1"/>
                </a:solidFill>
              </a:rPr>
              <a:t>sebaliknya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87" name="Google Shape;87;p17">
            <a:extLst>
              <a:ext uri="{FF2B5EF4-FFF2-40B4-BE49-F238E27FC236}">
                <a16:creationId xmlns:a16="http://schemas.microsoft.com/office/drawing/2014/main" id="{5E9E45A0-88AF-32A9-A25D-7D749F55C9C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47266" y="-93933"/>
            <a:ext cx="15730865" cy="173143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4A16C078-07B0-433A-A7DB-0D2ACB575C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1333" y="629267"/>
            <a:ext cx="931278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-US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Identifikasi</a:t>
            </a:r>
            <a:r>
              <a:rPr lang="en-US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Permasalahan</a:t>
            </a:r>
            <a:r>
              <a:rPr lang="en-US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-US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Pain Point , </a:t>
            </a:r>
            <a:r>
              <a:rPr lang="en-US" sz="18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berdasarkan</a:t>
            </a:r>
            <a:r>
              <a:rPr lang="en-US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hasil</a:t>
            </a:r>
            <a:r>
              <a:rPr lang="en-US" sz="1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diskusi</a:t>
            </a:r>
            <a:endParaRPr sz="1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16180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C5A4E8A7-F237-8192-A0EF-E391F9E03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>
            <a:extLst>
              <a:ext uri="{FF2B5EF4-FFF2-40B4-BE49-F238E27FC236}">
                <a16:creationId xmlns:a16="http://schemas.microsoft.com/office/drawing/2014/main" id="{42A3CCC3-5F72-F41E-D80F-5C4D43380FC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" y="0"/>
            <a:ext cx="121872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>
            <a:extLst>
              <a:ext uri="{FF2B5EF4-FFF2-40B4-BE49-F238E27FC236}">
                <a16:creationId xmlns:a16="http://schemas.microsoft.com/office/drawing/2014/main" id="{2E2083B9-9873-92C6-20AE-3A81BEC6CA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333" y="1731433"/>
            <a:ext cx="10937200" cy="429789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Pengendalian</a:t>
            </a:r>
            <a:r>
              <a:rPr lang="en-US" sz="2400" dirty="0">
                <a:solidFill>
                  <a:schemeClr val="bg1"/>
                </a:solidFill>
              </a:rPr>
              <a:t> dan </a:t>
            </a:r>
            <a:r>
              <a:rPr lang="en-US" sz="2400" dirty="0" err="1">
                <a:solidFill>
                  <a:schemeClr val="bg1"/>
                </a:solidFill>
              </a:rPr>
              <a:t>penurunan</a:t>
            </a:r>
            <a:r>
              <a:rPr lang="en-US" sz="2400" dirty="0">
                <a:solidFill>
                  <a:schemeClr val="bg1"/>
                </a:solidFill>
              </a:rPr>
              <a:t> waste material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Optimalisasi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perputaran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stok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untuk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mengurangi</a:t>
            </a:r>
            <a:r>
              <a:rPr lang="en-US" sz="2400" dirty="0">
                <a:solidFill>
                  <a:schemeClr val="bg1"/>
                </a:solidFill>
              </a:rPr>
              <a:t> working capital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Pengendalian</a:t>
            </a:r>
            <a:r>
              <a:rPr lang="en-US" sz="2400" dirty="0">
                <a:solidFill>
                  <a:schemeClr val="bg1"/>
                </a:solidFill>
              </a:rPr>
              <a:t> material </a:t>
            </a:r>
            <a:r>
              <a:rPr lang="en-US" sz="2400" dirty="0" err="1">
                <a:solidFill>
                  <a:schemeClr val="bg1"/>
                </a:solidFill>
              </a:rPr>
              <a:t>tidak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sesuai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dari</a:t>
            </a:r>
            <a:r>
              <a:rPr lang="en-US" sz="2400" dirty="0">
                <a:solidFill>
                  <a:schemeClr val="bg1"/>
                </a:solidFill>
              </a:rPr>
              <a:t> supplier, </a:t>
            </a:r>
            <a:r>
              <a:rPr lang="en-US" sz="2400" dirty="0" err="1">
                <a:solidFill>
                  <a:schemeClr val="bg1"/>
                </a:solidFill>
              </a:rPr>
              <a:t>mengurangi</a:t>
            </a:r>
            <a:r>
              <a:rPr lang="en-US" sz="2400" dirty="0">
                <a:solidFill>
                  <a:schemeClr val="bg1"/>
                </a:solidFill>
              </a:rPr>
              <a:t> lost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Pengendalian</a:t>
            </a:r>
            <a:r>
              <a:rPr lang="en-US" sz="2400" dirty="0">
                <a:solidFill>
                  <a:schemeClr val="bg1"/>
                </a:solidFill>
              </a:rPr>
              <a:t> Product KW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Sinergi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antar</a:t>
            </a:r>
            <a:r>
              <a:rPr lang="en-US" sz="2400" dirty="0">
                <a:solidFill>
                  <a:schemeClr val="bg1"/>
                </a:solidFill>
              </a:rPr>
              <a:t> Perusahaan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Proses </a:t>
            </a:r>
            <a:r>
              <a:rPr lang="en-US" sz="2400" dirty="0" err="1">
                <a:solidFill>
                  <a:schemeClr val="bg1"/>
                </a:solidFill>
              </a:rPr>
              <a:t>terintegrasi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antar</a:t>
            </a:r>
            <a:r>
              <a:rPr lang="en-US" sz="2400" dirty="0">
                <a:solidFill>
                  <a:schemeClr val="bg1"/>
                </a:solidFill>
              </a:rPr>
              <a:t> Perusahaan. </a:t>
            </a:r>
            <a:r>
              <a:rPr lang="en-US" sz="2400" dirty="0" err="1">
                <a:solidFill>
                  <a:schemeClr val="bg1"/>
                </a:solidFill>
              </a:rPr>
              <a:t>Walaupun</a:t>
            </a:r>
            <a:r>
              <a:rPr lang="en-US" sz="2400" dirty="0">
                <a:solidFill>
                  <a:schemeClr val="bg1"/>
                </a:solidFill>
              </a:rPr>
              <a:t> proses </a:t>
            </a:r>
            <a:r>
              <a:rPr lang="en-US" sz="2400" dirty="0" err="1">
                <a:solidFill>
                  <a:schemeClr val="bg1"/>
                </a:solidFill>
              </a:rPr>
              <a:t>terintegrasi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laporan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keuangan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tetap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terpisah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Efisiensi</a:t>
            </a:r>
            <a:r>
              <a:rPr lang="en-US" sz="2400" dirty="0">
                <a:solidFill>
                  <a:schemeClr val="bg1"/>
                </a:solidFill>
              </a:rPr>
              <a:t> proses, </a:t>
            </a:r>
            <a:r>
              <a:rPr lang="en-US" sz="2400" dirty="0" err="1">
                <a:solidFill>
                  <a:schemeClr val="bg1"/>
                </a:solidFill>
              </a:rPr>
              <a:t>mengurangi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pekerja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administrasi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Analisis</a:t>
            </a:r>
            <a:r>
              <a:rPr lang="en-US" sz="2400" dirty="0">
                <a:solidFill>
                  <a:schemeClr val="bg1"/>
                </a:solidFill>
              </a:rPr>
              <a:t> data </a:t>
            </a:r>
            <a:r>
              <a:rPr lang="en-US" sz="2400" dirty="0" err="1">
                <a:solidFill>
                  <a:schemeClr val="bg1"/>
                </a:solidFill>
              </a:rPr>
              <a:t>untuk</a:t>
            </a:r>
            <a:r>
              <a:rPr lang="en-US" sz="2400" dirty="0">
                <a:solidFill>
                  <a:schemeClr val="bg1"/>
                </a:solidFill>
              </a:rPr>
              <a:t> basis improvement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87" name="Google Shape;87;p17">
            <a:extLst>
              <a:ext uri="{FF2B5EF4-FFF2-40B4-BE49-F238E27FC236}">
                <a16:creationId xmlns:a16="http://schemas.microsoft.com/office/drawing/2014/main" id="{C7B57C06-5514-0209-3855-C84E9AF3753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47266" y="-93933"/>
            <a:ext cx="15730865" cy="173143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>
            <a:extLst>
              <a:ext uri="{FF2B5EF4-FFF2-40B4-BE49-F238E27FC236}">
                <a16:creationId xmlns:a16="http://schemas.microsoft.com/office/drawing/2014/main" id="{B090D6E8-ADC4-F303-02ED-1B0225C98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1333" y="629267"/>
            <a:ext cx="931278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-US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Potensi</a:t>
            </a:r>
            <a:r>
              <a:rPr lang="en-US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Peluang</a:t>
            </a:r>
            <a:r>
              <a:rPr lang="en-US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lainnya</a:t>
            </a:r>
            <a:endParaRPr sz="1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53913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" y="0"/>
            <a:ext cx="1218726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94233" y="-88366"/>
            <a:ext cx="15730865" cy="173143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-146500" y="634833"/>
            <a:ext cx="7754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>
              <a:buSzPts val="990"/>
            </a:pPr>
            <a:r>
              <a:rPr lang="en" sz="3813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Ruang Lingkup Pekerjaan</a:t>
            </a:r>
            <a:endParaRPr sz="1893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4435201" y="1533467"/>
            <a:ext cx="7481497" cy="53245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 marL="533398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 Process Re-engineering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untuk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menghilangkan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masalah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yang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sering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terjadi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dan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meningkatkan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efisiensi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 </a:t>
            </a:r>
          </a:p>
          <a:p>
            <a:pPr marL="533398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Restrukturisasi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/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penyederhaan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sistem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533398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Laporan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IDR dan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mata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uang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asing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pembelian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material)</a:t>
            </a:r>
          </a:p>
          <a:p>
            <a:pPr marL="533398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Pembuatan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Otomasi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Bisnis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(ERP)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untuk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keseluruhan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bisnis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perusahaan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penjualan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coil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maupun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penjualan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produk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marL="533398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Pelaporan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KPI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terintegrasi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dengan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program </a:t>
            </a:r>
          </a:p>
          <a:p>
            <a:pPr marL="533398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Integrasi ERP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antar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Perusahaan,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untuk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efisiensi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proses,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satu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data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bisa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digunakan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oleh Perusahaan yang lain.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Walaupun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terintegrasi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laporan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tetap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33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berbeda</a:t>
            </a:r>
            <a:r>
              <a:rPr lang="en-US" sz="2133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</a:p>
          <a:p>
            <a:pPr marL="533398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endParaRPr lang="en-US" sz="2133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6198" indent="0" algn="just">
              <a:spcBef>
                <a:spcPts val="1333"/>
              </a:spcBef>
              <a:buClr>
                <a:schemeClr val="bg1"/>
              </a:buClr>
              <a:buSzPct val="100000"/>
              <a:buNone/>
            </a:pPr>
            <a:endParaRPr lang="en-US" sz="2133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76198" indent="0" algn="just">
              <a:spcBef>
                <a:spcPts val="1333"/>
              </a:spcBef>
              <a:buClr>
                <a:schemeClr val="bg1"/>
              </a:buClr>
              <a:buSzPct val="100000"/>
              <a:buNone/>
            </a:pPr>
            <a:endParaRPr lang="en" sz="14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04792" indent="-228594" algn="just">
              <a:spcBef>
                <a:spcPts val="1333"/>
              </a:spcBef>
              <a:buClr>
                <a:schemeClr val="dk1"/>
              </a:buClr>
              <a:buSzPct val="55000"/>
              <a:buNone/>
            </a:pPr>
            <a:endParaRPr sz="2133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04792" indent="-228594" algn="just">
              <a:spcBef>
                <a:spcPts val="1333"/>
              </a:spcBef>
              <a:buClr>
                <a:schemeClr val="dk1"/>
              </a:buClr>
              <a:buSzPct val="55000"/>
              <a:buNone/>
            </a:pPr>
            <a:endParaRPr lang="en-ID" sz="2133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283" y="1"/>
            <a:ext cx="12468764" cy="70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1063895" y="2057104"/>
            <a:ext cx="10791221" cy="439182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Diskusi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dengan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Top Management</a:t>
            </a:r>
          </a:p>
          <a:p>
            <a:pPr marL="1176848" lvl="1" indent="-457200" algn="just">
              <a:spcBef>
                <a:spcPts val="1333"/>
              </a:spcBef>
              <a:buClr>
                <a:schemeClr val="bg1"/>
              </a:buClr>
              <a:buSzPct val="100000"/>
            </a:pP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Permasalahan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dan </a:t>
            </a: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harapan</a:t>
            </a:r>
            <a:endParaRPr lang="en"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176848" lvl="1" indent="-457200" algn="just">
              <a:spcBef>
                <a:spcPts val="1333"/>
              </a:spcBef>
              <a:buClr>
                <a:schemeClr val="bg1"/>
              </a:buClr>
              <a:buSzPct val="100000"/>
            </a:pP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Goals </a:t>
            </a: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terukur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dari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project  </a:t>
            </a: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Identifikasi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sistem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saat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ini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1176848" lvl="1" indent="-457200" algn="just">
              <a:spcBef>
                <a:spcPts val="1333"/>
              </a:spcBef>
              <a:buClr>
                <a:schemeClr val="bg1"/>
              </a:buClr>
              <a:buSzPct val="100000"/>
            </a:pP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Keluhan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(pain point) dan </a:t>
            </a: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harapan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(wish list)</a:t>
            </a: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Identifikasi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aktual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bisnis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saat</a:t>
            </a:r>
            <a:r>
              <a:rPr lang="en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ini</a:t>
            </a:r>
            <a:endParaRPr lang="en" sz="2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176848" lvl="1" indent="-457200" algn="just">
              <a:spcBef>
                <a:spcPts val="1333"/>
              </a:spcBef>
              <a:buClr>
                <a:schemeClr val="bg1"/>
              </a:buClr>
              <a:buSzPct val="100000"/>
            </a:pP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Pemetaan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 </a:t>
            </a: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bisnis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saat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ini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(as is)</a:t>
            </a:r>
          </a:p>
          <a:p>
            <a:pPr marL="1176848" lvl="1" indent="-457200" algn="just">
              <a:spcBef>
                <a:spcPts val="1333"/>
              </a:spcBef>
              <a:buClr>
                <a:schemeClr val="bg1"/>
              </a:buClr>
              <a:buSzPct val="100000"/>
            </a:pP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Keluhan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(pain point) dan </a:t>
            </a:r>
            <a:r>
              <a:rPr lang="en" sz="18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harapan</a:t>
            </a:r>
            <a:r>
              <a:rPr lang="en" sz="18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(wish list)</a:t>
            </a: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sz="22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Pengumpulan</a:t>
            </a:r>
            <a:r>
              <a:rPr lang="en" sz="2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data before (</a:t>
            </a:r>
            <a:r>
              <a:rPr lang="en" sz="22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waktu</a:t>
            </a:r>
            <a:r>
              <a:rPr lang="en" sz="2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proses, </a:t>
            </a:r>
            <a:r>
              <a:rPr lang="en" sz="22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jumlah</a:t>
            </a:r>
            <a:r>
              <a:rPr lang="en" sz="2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orang, waste, </a:t>
            </a:r>
            <a:r>
              <a:rPr lang="en" sz="22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dll</a:t>
            </a:r>
            <a:r>
              <a:rPr lang="en" sz="22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1176848" lvl="1" indent="-457200" algn="just">
              <a:spcBef>
                <a:spcPts val="1333"/>
              </a:spcBef>
              <a:buClr>
                <a:schemeClr val="bg1"/>
              </a:buClr>
              <a:buSzPct val="100000"/>
            </a:pPr>
            <a:endParaRPr lang="en" sz="18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176837" lvl="1" algn="just">
              <a:spcBef>
                <a:spcPts val="1333"/>
              </a:spcBef>
              <a:buClr>
                <a:schemeClr val="bg1"/>
              </a:buClr>
              <a:buSzPct val="100000"/>
            </a:pPr>
            <a:endParaRPr lang="en" sz="2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04792" indent="-228594" algn="just">
              <a:spcBef>
                <a:spcPts val="1333"/>
              </a:spcBef>
              <a:buClr>
                <a:schemeClr val="dk1"/>
              </a:buClr>
              <a:buSzPct val="55000"/>
              <a:buNone/>
            </a:pPr>
            <a:endParaRPr lang="en-ID" sz="2000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  <p:pic>
        <p:nvPicPr>
          <p:cNvPr id="4" name="Google Shape;102;p19">
            <a:extLst>
              <a:ext uri="{FF2B5EF4-FFF2-40B4-BE49-F238E27FC236}">
                <a16:creationId xmlns:a16="http://schemas.microsoft.com/office/drawing/2014/main" id="{160FF2C8-A5E4-1D8B-2B3C-7E3E05AECA5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9766" y="-799251"/>
            <a:ext cx="9426001" cy="30209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3;p19">
            <a:extLst>
              <a:ext uri="{FF2B5EF4-FFF2-40B4-BE49-F238E27FC236}">
                <a16:creationId xmlns:a16="http://schemas.microsoft.com/office/drawing/2014/main" id="{528DC007-D897-977E-BBA2-0A6824D30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033" y="524436"/>
            <a:ext cx="8928684" cy="10082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Tahapan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Pekerjaan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Phase 1  : </a:t>
            </a:r>
            <a:b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Identifikasi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kondisi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saat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ini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E713235-1932-962B-B32F-9A77CA36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>
            <a:extLst>
              <a:ext uri="{FF2B5EF4-FFF2-40B4-BE49-F238E27FC236}">
                <a16:creationId xmlns:a16="http://schemas.microsoft.com/office/drawing/2014/main" id="{157D526A-7E81-3BBD-D090-88421E9616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283" y="1"/>
            <a:ext cx="12468764" cy="70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6DA06DBB-F9A9-C7AA-0AD6-B288815F9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00780" y="2097032"/>
            <a:ext cx="9957032" cy="175307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Penyusunan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usulan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struktur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laporan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Usulan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bisnis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(to be)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untuk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bisa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mengatasi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permasalahan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dan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harapan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erusahaan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+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meningkatkan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efisiensi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proses. </a:t>
            </a: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endParaRPr lang="en" sz="2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176837" lvl="1" algn="just">
              <a:spcBef>
                <a:spcPts val="1333"/>
              </a:spcBef>
              <a:buClr>
                <a:schemeClr val="bg1"/>
              </a:buClr>
              <a:buSzPct val="100000"/>
            </a:pP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04792" indent="-228594" algn="just">
              <a:spcBef>
                <a:spcPts val="1333"/>
              </a:spcBef>
              <a:buClr>
                <a:schemeClr val="dk1"/>
              </a:buClr>
              <a:buSzPct val="55000"/>
              <a:buNone/>
            </a:pPr>
            <a:endParaRPr lang="en-ID" sz="2400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  <p:pic>
        <p:nvPicPr>
          <p:cNvPr id="4" name="Google Shape;102;p19">
            <a:extLst>
              <a:ext uri="{FF2B5EF4-FFF2-40B4-BE49-F238E27FC236}">
                <a16:creationId xmlns:a16="http://schemas.microsoft.com/office/drawing/2014/main" id="{5899DE41-64F0-134D-7DAD-2DE3100AF8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9766" y="-799251"/>
            <a:ext cx="9426001" cy="30209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3;p19">
            <a:extLst>
              <a:ext uri="{FF2B5EF4-FFF2-40B4-BE49-F238E27FC236}">
                <a16:creationId xmlns:a16="http://schemas.microsoft.com/office/drawing/2014/main" id="{B22691C0-3A9C-AB89-8AF6-B34F076F0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033" y="524436"/>
            <a:ext cx="10921778" cy="10082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Tahapan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Pekerjaan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Phase 2  : </a:t>
            </a:r>
            <a:b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Penyusunan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strategi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laporan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keuangan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dan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usulan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bisnis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proses </a:t>
            </a:r>
            <a:endParaRPr sz="24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04;p19">
            <a:extLst>
              <a:ext uri="{FF2B5EF4-FFF2-40B4-BE49-F238E27FC236}">
                <a16:creationId xmlns:a16="http://schemas.microsoft.com/office/drawing/2014/main" id="{AA45B989-62FD-5CC6-B104-911C3D58BC4D}"/>
              </a:ext>
            </a:extLst>
          </p:cNvPr>
          <p:cNvSpPr txBox="1">
            <a:spLocks/>
          </p:cNvSpPr>
          <p:nvPr/>
        </p:nvSpPr>
        <p:spPr>
          <a:xfrm>
            <a:off x="1400780" y="4636638"/>
            <a:ext cx="9957032" cy="175307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0063" indent="0" algn="just">
              <a:spcBef>
                <a:spcPts val="1333"/>
              </a:spcBef>
              <a:buClr>
                <a:schemeClr val="bg1"/>
              </a:buClr>
              <a:buSzPct val="100000"/>
              <a:buNone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Output : </a:t>
            </a: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AutoNum type="arabicPeriod"/>
            </a:pPr>
            <a:r>
              <a:rPr lang="en-US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Usulan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laporan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dan </a:t>
            </a:r>
            <a:r>
              <a:rPr lang="en-US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jurnal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Approval proses </a:t>
            </a:r>
            <a:r>
              <a:rPr lang="en-US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bisnis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be </a:t>
            </a:r>
            <a:endParaRPr lang="en" sz="2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176837" lvl="1" algn="just">
              <a:spcBef>
                <a:spcPts val="1333"/>
              </a:spcBef>
              <a:buClr>
                <a:schemeClr val="bg1"/>
              </a:buClr>
              <a:buSzPct val="100000"/>
            </a:pP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04792" indent="-228594" algn="just">
              <a:spcBef>
                <a:spcPts val="1333"/>
              </a:spcBef>
              <a:buClr>
                <a:schemeClr val="dk1"/>
              </a:buClr>
              <a:buSzPct val="55000"/>
              <a:buFont typeface="Arial" panose="020B0604020202020204" pitchFamily="34" charset="0"/>
              <a:buNone/>
            </a:pPr>
            <a:endParaRPr lang="en-ID" sz="2400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81808B52-51AF-E681-A1A5-D2EDAE389F2D}"/>
              </a:ext>
            </a:extLst>
          </p:cNvPr>
          <p:cNvSpPr/>
          <p:nvPr/>
        </p:nvSpPr>
        <p:spPr>
          <a:xfrm>
            <a:off x="5358063" y="3930316"/>
            <a:ext cx="570943" cy="610070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89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477A259-0094-B517-C222-63EE0E11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>
            <a:extLst>
              <a:ext uri="{FF2B5EF4-FFF2-40B4-BE49-F238E27FC236}">
                <a16:creationId xmlns:a16="http://schemas.microsoft.com/office/drawing/2014/main" id="{7558978F-E6D5-DEB7-8115-5C7DCAC4DC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283" y="1"/>
            <a:ext cx="12468764" cy="70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BDA542B0-B587-8F38-10AA-AFC9A2BA7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00780" y="2097033"/>
            <a:ext cx="9957032" cy="156056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Pembuatan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program ERP dan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laporan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r>
              <a:rPr lang="en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Trial program ERP dan </a:t>
            </a:r>
            <a:r>
              <a:rPr lang="en-US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laporan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lang="en" sz="24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67263" indent="-45720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endParaRPr lang="en" sz="20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176837" lvl="1" algn="just">
              <a:spcBef>
                <a:spcPts val="1333"/>
              </a:spcBef>
              <a:buClr>
                <a:schemeClr val="bg1"/>
              </a:buClr>
              <a:buSzPct val="100000"/>
            </a:pP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04792" indent="-228594" algn="just">
              <a:spcBef>
                <a:spcPts val="1333"/>
              </a:spcBef>
              <a:buClr>
                <a:schemeClr val="dk1"/>
              </a:buClr>
              <a:buSzPct val="55000"/>
              <a:buNone/>
            </a:pPr>
            <a:endParaRPr lang="en-ID" sz="2400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  <p:pic>
        <p:nvPicPr>
          <p:cNvPr id="4" name="Google Shape;102;p19">
            <a:extLst>
              <a:ext uri="{FF2B5EF4-FFF2-40B4-BE49-F238E27FC236}">
                <a16:creationId xmlns:a16="http://schemas.microsoft.com/office/drawing/2014/main" id="{B233B118-10D7-9389-FE6F-986B62FFF3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9766" y="-799251"/>
            <a:ext cx="9426001" cy="30209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3;p19">
            <a:extLst>
              <a:ext uri="{FF2B5EF4-FFF2-40B4-BE49-F238E27FC236}">
                <a16:creationId xmlns:a16="http://schemas.microsoft.com/office/drawing/2014/main" id="{F1634AF4-5AFB-7659-9650-A52696589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033" y="524436"/>
            <a:ext cx="10921778" cy="10082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Tahapan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Pekerjaan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Phase 3  : </a:t>
            </a:r>
            <a:b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Pengembangan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modul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ERP dan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sistem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keuangan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04;p19">
            <a:extLst>
              <a:ext uri="{FF2B5EF4-FFF2-40B4-BE49-F238E27FC236}">
                <a16:creationId xmlns:a16="http://schemas.microsoft.com/office/drawing/2014/main" id="{6CD5508B-B2D3-A7CE-7DF5-E239AD0AB8AD}"/>
              </a:ext>
            </a:extLst>
          </p:cNvPr>
          <p:cNvSpPr txBox="1">
            <a:spLocks/>
          </p:cNvSpPr>
          <p:nvPr/>
        </p:nvSpPr>
        <p:spPr>
          <a:xfrm>
            <a:off x="1416822" y="4577169"/>
            <a:ext cx="9957032" cy="156056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3929" indent="0">
              <a:spcBef>
                <a:spcPts val="1333"/>
              </a:spcBef>
              <a:buClr>
                <a:schemeClr val="bg1"/>
              </a:buClr>
              <a:buSzPct val="100000"/>
              <a:buNone/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Output </a:t>
            </a:r>
          </a:p>
          <a:p>
            <a:pPr marL="143929" indent="0">
              <a:spcBef>
                <a:spcPts val="1333"/>
              </a:spcBef>
              <a:buClr>
                <a:schemeClr val="bg1"/>
              </a:buClr>
              <a:buSzPct val="100000"/>
              <a:buNone/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POC : Prove of Concept</a:t>
            </a:r>
          </a:p>
          <a:p>
            <a:pPr marL="304792" indent="-228594" algn="just">
              <a:spcBef>
                <a:spcPts val="1333"/>
              </a:spcBef>
              <a:buClr>
                <a:schemeClr val="dk1"/>
              </a:buClr>
              <a:buSzPct val="55000"/>
              <a:buFont typeface="Arial" panose="020B0604020202020204" pitchFamily="34" charset="0"/>
              <a:buNone/>
            </a:pPr>
            <a:endParaRPr lang="en-ID" sz="2400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D0E8C757-BF86-F356-9B16-456E3B2B1652}"/>
              </a:ext>
            </a:extLst>
          </p:cNvPr>
          <p:cNvSpPr/>
          <p:nvPr/>
        </p:nvSpPr>
        <p:spPr>
          <a:xfrm>
            <a:off x="5394155" y="3818021"/>
            <a:ext cx="701845" cy="614770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80961E9-F532-E4BB-A99D-8027352B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>
            <a:extLst>
              <a:ext uri="{FF2B5EF4-FFF2-40B4-BE49-F238E27FC236}">
                <a16:creationId xmlns:a16="http://schemas.microsoft.com/office/drawing/2014/main" id="{19327728-D929-9AFD-85D4-9117571FF2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283" y="1"/>
            <a:ext cx="12468764" cy="70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813E7528-49A8-9A14-2B24-B2C051509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00780" y="2097032"/>
            <a:ext cx="9957032" cy="348562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24413" indent="-51435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Migrasi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data beginning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24413" indent="-51435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 live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tahap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1</a:t>
            </a:r>
          </a:p>
          <a:p>
            <a:pPr marL="624413" indent="-51435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Validasi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laporan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keuangan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4413" indent="-51435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Evaluasi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dan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perbaikan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624413" indent="-51435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Monitoring </a:t>
            </a:r>
            <a:r>
              <a:rPr lang="en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penggunaan</a:t>
            </a:r>
            <a:r>
              <a:rPr lang="en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program </a:t>
            </a:r>
          </a:p>
          <a:p>
            <a:pPr marL="624413" indent="-514350" algn="just">
              <a:spcBef>
                <a:spcPts val="1333"/>
              </a:spcBef>
              <a:buClr>
                <a:schemeClr val="bg1"/>
              </a:buClr>
              <a:buSzPct val="100000"/>
              <a:buFont typeface="+mj-lt"/>
              <a:buAutoNum type="arabicPeriod"/>
            </a:pPr>
            <a:endParaRPr lang="en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04792" indent="-228594" algn="just">
              <a:spcBef>
                <a:spcPts val="1333"/>
              </a:spcBef>
              <a:buClr>
                <a:schemeClr val="dk1"/>
              </a:buClr>
              <a:buSzPct val="55000"/>
              <a:buNone/>
            </a:pPr>
            <a:endParaRPr lang="en-ID" sz="2400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  <p:pic>
        <p:nvPicPr>
          <p:cNvPr id="4" name="Google Shape;102;p19">
            <a:extLst>
              <a:ext uri="{FF2B5EF4-FFF2-40B4-BE49-F238E27FC236}">
                <a16:creationId xmlns:a16="http://schemas.microsoft.com/office/drawing/2014/main" id="{891461B0-1EEE-A5D5-719A-A7EC1CA6F3C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9766" y="-799251"/>
            <a:ext cx="9426001" cy="30209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3;p19">
            <a:extLst>
              <a:ext uri="{FF2B5EF4-FFF2-40B4-BE49-F238E27FC236}">
                <a16:creationId xmlns:a16="http://schemas.microsoft.com/office/drawing/2014/main" id="{DC0327A6-671E-FF8D-51D0-7A2C3FAF9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033" y="524436"/>
            <a:ext cx="10921778" cy="10082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Tahapan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Pekerjaan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Phase 4  : </a:t>
            </a:r>
            <a:b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Pengembangan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modul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ERP dan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sistem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keuangan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19023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B13BEA4-9DBB-9D69-1273-62FB9DCCB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>
            <a:extLst>
              <a:ext uri="{FF2B5EF4-FFF2-40B4-BE49-F238E27FC236}">
                <a16:creationId xmlns:a16="http://schemas.microsoft.com/office/drawing/2014/main" id="{D3302B5A-CB33-DDA0-0641-754C5C19D9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283" y="1"/>
            <a:ext cx="12468764" cy="701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>
            <a:extLst>
              <a:ext uri="{FF2B5EF4-FFF2-40B4-BE49-F238E27FC236}">
                <a16:creationId xmlns:a16="http://schemas.microsoft.com/office/drawing/2014/main" id="{0BA0C882-2533-8E4C-F49A-C3B48640C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00780" y="2097032"/>
            <a:ext cx="9957032" cy="199370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15875" indent="0" algn="just">
              <a:spcBef>
                <a:spcPts val="1333"/>
              </a:spcBef>
              <a:buClr>
                <a:schemeClr val="dk1"/>
              </a:buClr>
              <a:buSzPct val="55000"/>
              <a:buNone/>
            </a:pP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Monitoring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hasil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Improvement yang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berhasil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dicapai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melalui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perbaikan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bisnis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proses dan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penerapan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otomasi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ID" sz="24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bisnis</a:t>
            </a: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proses (ERP)</a:t>
            </a:r>
          </a:p>
          <a:p>
            <a:pPr marL="1082660" lvl="1" indent="-457200" algn="just">
              <a:spcBef>
                <a:spcPts val="1333"/>
              </a:spcBef>
              <a:buClr>
                <a:schemeClr val="bg1"/>
              </a:buClr>
              <a:buSzPct val="55000"/>
              <a:buFont typeface="+mj-lt"/>
              <a:buAutoNum type="arabicPeriod"/>
            </a:pPr>
            <a:r>
              <a:rPr lang="en-ID" sz="20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Pengambilan</a:t>
            </a:r>
            <a:r>
              <a:rPr lang="en-ID" sz="20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data after</a:t>
            </a:r>
          </a:p>
          <a:p>
            <a:pPr marL="1082660" lvl="1" indent="-457200" algn="just">
              <a:spcBef>
                <a:spcPts val="1333"/>
              </a:spcBef>
              <a:buClr>
                <a:schemeClr val="bg1"/>
              </a:buClr>
              <a:buSzPct val="55000"/>
              <a:buFont typeface="+mj-lt"/>
              <a:buAutoNum type="arabicPeriod"/>
            </a:pPr>
            <a:r>
              <a:rPr lang="en-ID" sz="20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Perhitungan</a:t>
            </a:r>
            <a:r>
              <a:rPr lang="en-ID" sz="20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cost saving</a:t>
            </a:r>
          </a:p>
        </p:txBody>
      </p:sp>
      <p:pic>
        <p:nvPicPr>
          <p:cNvPr id="4" name="Google Shape;102;p19">
            <a:extLst>
              <a:ext uri="{FF2B5EF4-FFF2-40B4-BE49-F238E27FC236}">
                <a16:creationId xmlns:a16="http://schemas.microsoft.com/office/drawing/2014/main" id="{C61438BC-3F61-6EC1-A1E3-4DD64F9DF7D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9766" y="-799251"/>
            <a:ext cx="9426001" cy="30209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3;p19">
            <a:extLst>
              <a:ext uri="{FF2B5EF4-FFF2-40B4-BE49-F238E27FC236}">
                <a16:creationId xmlns:a16="http://schemas.microsoft.com/office/drawing/2014/main" id="{4B8AE210-8036-E2BE-6652-6642E9C54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033" y="524436"/>
            <a:ext cx="10921778" cy="10082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Tahapan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Pekerjaan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Phase 5  : </a:t>
            </a:r>
            <a:b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Pelaporan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4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hasil</a:t>
            </a:r>
            <a:r>
              <a:rPr lang="en" sz="24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4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04;p19">
            <a:extLst>
              <a:ext uri="{FF2B5EF4-FFF2-40B4-BE49-F238E27FC236}">
                <a16:creationId xmlns:a16="http://schemas.microsoft.com/office/drawing/2014/main" id="{9E0FDAF3-0EBA-F53E-85AE-143A5D73C23A}"/>
              </a:ext>
            </a:extLst>
          </p:cNvPr>
          <p:cNvSpPr txBox="1">
            <a:spLocks/>
          </p:cNvSpPr>
          <p:nvPr/>
        </p:nvSpPr>
        <p:spPr>
          <a:xfrm>
            <a:off x="1400779" y="4956342"/>
            <a:ext cx="9957032" cy="148321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609585" lvl="0" indent="-457189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●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○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2332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indent="0" algn="just">
              <a:spcBef>
                <a:spcPts val="1333"/>
              </a:spcBef>
              <a:buClr>
                <a:schemeClr val="dk1"/>
              </a:buClr>
              <a:buSzPct val="55000"/>
              <a:buFont typeface="Arial" panose="020B0604020202020204" pitchFamily="34" charset="0"/>
              <a:buNone/>
            </a:pPr>
            <a:r>
              <a:rPr lang="en-ID" sz="24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Output</a:t>
            </a:r>
          </a:p>
          <a:p>
            <a:pPr marL="15875" indent="0" algn="just">
              <a:spcBef>
                <a:spcPts val="1333"/>
              </a:spcBef>
              <a:buClr>
                <a:schemeClr val="dk1"/>
              </a:buClr>
              <a:buSzPct val="55000"/>
              <a:buNone/>
            </a:pPr>
            <a:r>
              <a:rPr lang="en-ID" sz="20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Laporan</a:t>
            </a:r>
            <a:r>
              <a:rPr lang="en-ID" sz="20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improvement, before after dan cost saving yang </a:t>
            </a:r>
            <a:r>
              <a:rPr lang="en-ID" sz="20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berhasil</a:t>
            </a:r>
            <a:r>
              <a:rPr lang="en-ID" sz="20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</a:t>
            </a:r>
            <a:r>
              <a:rPr lang="en-ID" sz="2000" dirty="0" err="1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dicapai</a:t>
            </a:r>
            <a:r>
              <a:rPr lang="en-ID" sz="2000" dirty="0">
                <a:solidFill>
                  <a:srgbClr val="FFFFFF"/>
                </a:solidFill>
                <a:latin typeface="Roboto"/>
                <a:ea typeface="Roboto"/>
                <a:sym typeface="Roboto"/>
              </a:rPr>
              <a:t> </a:t>
            </a:r>
          </a:p>
          <a:p>
            <a:pPr marL="15875" indent="0" algn="just">
              <a:spcBef>
                <a:spcPts val="1333"/>
              </a:spcBef>
              <a:buClr>
                <a:schemeClr val="dk1"/>
              </a:buClr>
              <a:buSzPct val="55000"/>
              <a:buFont typeface="Arial" panose="020B0604020202020204" pitchFamily="34" charset="0"/>
              <a:buNone/>
            </a:pPr>
            <a:endParaRPr lang="en-ID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  <a:p>
            <a:pPr marL="15875" indent="0" algn="just">
              <a:spcBef>
                <a:spcPts val="1333"/>
              </a:spcBef>
              <a:buClr>
                <a:schemeClr val="dk1"/>
              </a:buClr>
              <a:buSzPct val="55000"/>
              <a:buFont typeface="Arial" panose="020B0604020202020204" pitchFamily="34" charset="0"/>
              <a:buNone/>
            </a:pPr>
            <a:endParaRPr lang="en-ID" sz="2400" dirty="0">
              <a:solidFill>
                <a:srgbClr val="FFFFFF"/>
              </a:solidFill>
              <a:latin typeface="Roboto"/>
              <a:ea typeface="Roboto"/>
              <a:sym typeface="Roboto"/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B66C6BC4-9BC9-AB3E-AEC8-DE2E4098F47A}"/>
              </a:ext>
            </a:extLst>
          </p:cNvPr>
          <p:cNvSpPr/>
          <p:nvPr/>
        </p:nvSpPr>
        <p:spPr>
          <a:xfrm>
            <a:off x="5775157" y="4204711"/>
            <a:ext cx="641685" cy="637657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1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72AA718-1CEC-2783-41C9-F159BC1A7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>
            <a:extLst>
              <a:ext uri="{FF2B5EF4-FFF2-40B4-BE49-F238E27FC236}">
                <a16:creationId xmlns:a16="http://schemas.microsoft.com/office/drawing/2014/main" id="{9018A3D8-0461-5039-98DD-4FD11C7CFF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01" y="524436"/>
            <a:ext cx="12468764" cy="70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>
            <a:extLst>
              <a:ext uri="{FF2B5EF4-FFF2-40B4-BE49-F238E27FC236}">
                <a16:creationId xmlns:a16="http://schemas.microsoft.com/office/drawing/2014/main" id="{50D80203-8A7E-3110-AD82-C8431038DA3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9766" y="-799251"/>
            <a:ext cx="9426001" cy="302090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>
            <a:extLst>
              <a:ext uri="{FF2B5EF4-FFF2-40B4-BE49-F238E27FC236}">
                <a16:creationId xmlns:a16="http://schemas.microsoft.com/office/drawing/2014/main" id="{EADFA6E2-3722-0C5A-3B45-AA2AE1FC8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033" y="524436"/>
            <a:ext cx="10182807" cy="10082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Detil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Modul Dan </a:t>
            </a: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Biaya</a:t>
            </a:r>
            <a:endParaRPr sz="3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FC2F50-8A26-0DB3-05E5-6E07DF206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747" y="1944928"/>
            <a:ext cx="4923229" cy="438863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0731E4-7583-4986-DAF7-84644EF25D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48" y="1894129"/>
            <a:ext cx="4251014" cy="476067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52844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CA830E4-45E6-7168-57CE-37AFC264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>
            <a:extLst>
              <a:ext uri="{FF2B5EF4-FFF2-40B4-BE49-F238E27FC236}">
                <a16:creationId xmlns:a16="http://schemas.microsoft.com/office/drawing/2014/main" id="{7F4C0374-7907-5EF1-F1BD-F3EB58E946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01" y="524436"/>
            <a:ext cx="12468764" cy="70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>
            <a:extLst>
              <a:ext uri="{FF2B5EF4-FFF2-40B4-BE49-F238E27FC236}">
                <a16:creationId xmlns:a16="http://schemas.microsoft.com/office/drawing/2014/main" id="{E04436D0-C884-BD8F-379E-5EFF35FAAD7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99766" y="-799251"/>
            <a:ext cx="9426001" cy="302090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>
            <a:extLst>
              <a:ext uri="{FF2B5EF4-FFF2-40B4-BE49-F238E27FC236}">
                <a16:creationId xmlns:a16="http://schemas.microsoft.com/office/drawing/2014/main" id="{FA31C1D0-3E2B-443C-8A98-6524A92B3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6033" y="524436"/>
            <a:ext cx="10182807" cy="10082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Detil</a:t>
            </a:r>
            <a:r>
              <a:rPr lang="en" sz="3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Modul Dan </a:t>
            </a:r>
            <a:r>
              <a:rPr lang="en" sz="3200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Biaya</a:t>
            </a:r>
            <a:endParaRPr sz="3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A05A23-D88F-2469-DC12-B8A0A4309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983" y="2065578"/>
            <a:ext cx="5029200" cy="41402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1AEB23-EFF4-3156-E640-BEFCA7DC79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500" y="2065578"/>
            <a:ext cx="5130800" cy="26543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62979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3CA379-B572-92C4-437D-C5F856B23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" y="0"/>
            <a:ext cx="1218726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2CD370-A8F9-B6C4-F633-455A27F5E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505" y="129340"/>
            <a:ext cx="11353800" cy="17687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423F243-2E14-126B-E49A-9528315867C3}"/>
              </a:ext>
            </a:extLst>
          </p:cNvPr>
          <p:cNvSpPr txBox="1">
            <a:spLocks/>
          </p:cNvSpPr>
          <p:nvPr/>
        </p:nvSpPr>
        <p:spPr>
          <a:xfrm>
            <a:off x="519545" y="3512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err="1">
                <a:solidFill>
                  <a:schemeClr val="bg1"/>
                </a:solidFill>
              </a:rPr>
              <a:t>Investasi</a:t>
            </a:r>
            <a:r>
              <a:rPr lang="en-US" sz="3200" b="1" dirty="0">
                <a:solidFill>
                  <a:schemeClr val="bg1"/>
                </a:solidFill>
              </a:rPr>
              <a:t> Program : Basic Fee </a:t>
            </a:r>
            <a:r>
              <a:rPr lang="en-US" sz="3200" b="1" dirty="0" err="1">
                <a:solidFill>
                  <a:schemeClr val="bg1"/>
                </a:solidFill>
              </a:rPr>
              <a:t>untuk</a:t>
            </a:r>
            <a:r>
              <a:rPr lang="en-US" sz="3200" b="1" dirty="0">
                <a:solidFill>
                  <a:schemeClr val="bg1"/>
                </a:solidFill>
              </a:rPr>
              <a:t> 1 </a:t>
            </a:r>
            <a:r>
              <a:rPr lang="en-US" sz="3200" b="1" dirty="0" err="1">
                <a:solidFill>
                  <a:schemeClr val="bg1"/>
                </a:solidFill>
              </a:rPr>
              <a:t>perusahaan</a:t>
            </a:r>
            <a:r>
              <a:rPr lang="en-US" sz="3200" b="1" dirty="0">
                <a:solidFill>
                  <a:schemeClr val="bg1"/>
                </a:solidFill>
              </a:rPr>
              <a:t>  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C865057-7BC5-824E-9078-6CCA1F266A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939264"/>
              </p:ext>
            </p:extLst>
          </p:nvPr>
        </p:nvGraphicFramePr>
        <p:xfrm>
          <a:off x="1091048" y="1899545"/>
          <a:ext cx="10515600" cy="3949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307">
                  <a:extLst>
                    <a:ext uri="{9D8B030D-6E8A-4147-A177-3AD203B41FA5}">
                      <a16:colId xmlns:a16="http://schemas.microsoft.com/office/drawing/2014/main" val="2195789992"/>
                    </a:ext>
                  </a:extLst>
                </a:gridCol>
                <a:gridCol w="4413224">
                  <a:extLst>
                    <a:ext uri="{9D8B030D-6E8A-4147-A177-3AD203B41FA5}">
                      <a16:colId xmlns:a16="http://schemas.microsoft.com/office/drawing/2014/main" val="2295148663"/>
                    </a:ext>
                  </a:extLst>
                </a:gridCol>
                <a:gridCol w="5117069">
                  <a:extLst>
                    <a:ext uri="{9D8B030D-6E8A-4147-A177-3AD203B41FA5}">
                      <a16:colId xmlns:a16="http://schemas.microsoft.com/office/drawing/2014/main" val="4221804493"/>
                    </a:ext>
                  </a:extLst>
                </a:gridCol>
              </a:tblGrid>
              <a:tr h="54158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Program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Biaya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511498"/>
                  </a:ext>
                </a:extLst>
              </a:tr>
              <a:tr h="7375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process re-engineering proses dan </a:t>
                      </a:r>
                      <a:r>
                        <a:rPr lang="en-ID" sz="18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keuangan</a:t>
                      </a:r>
                      <a:r>
                        <a:rPr lang="en-ID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 75.000.000 </a:t>
                      </a:r>
                    </a:p>
                    <a:p>
                      <a:pPr algn="l" fontAlgn="t"/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tujuh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puluh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lima 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juta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rupiah)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092287"/>
                  </a:ext>
                </a:extLst>
              </a:tr>
              <a:tr h="6577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 err="1"/>
                        <a:t>Pengembangan</a:t>
                      </a:r>
                      <a:r>
                        <a:rPr lang="en-ID" sz="1800" dirty="0"/>
                        <a:t> ERP </a:t>
                      </a:r>
                      <a:r>
                        <a:rPr lang="en-ID" sz="1800" dirty="0" err="1"/>
                        <a:t>manufaktur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terintergasi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antar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perusahaan</a:t>
                      </a:r>
                      <a:endParaRPr lang="en-ID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 855.000.000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Delapan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ratus lima 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puluh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lima 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juta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rupiah)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625798"/>
                  </a:ext>
                </a:extLst>
              </a:tr>
              <a:tr h="41709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 err="1"/>
                        <a:t>Penyusunan</a:t>
                      </a:r>
                      <a:r>
                        <a:rPr lang="en-ID" sz="1800" dirty="0"/>
                        <a:t> KPI </a:t>
                      </a:r>
                      <a:r>
                        <a:rPr lang="en-ID" sz="1800" dirty="0" err="1"/>
                        <a:t>terintegrasi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dengan</a:t>
                      </a:r>
                      <a:r>
                        <a:rPr lang="en-ID" sz="1800" dirty="0"/>
                        <a:t> ERP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 75.000.000 (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tujuh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puluh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lima 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juta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rupiah)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277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/>
                        <a:t>Total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Rp  1.005.000.000 (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satu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milyar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lima 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juta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rupiah)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208243"/>
                  </a:ext>
                </a:extLst>
              </a:tr>
              <a:tr h="372277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/>
                        <a:t>Discount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Rp  301.500.000 (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tiga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ratus 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satu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juta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lima ratus 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ribu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968154"/>
                  </a:ext>
                </a:extLst>
              </a:tr>
              <a:tr h="428827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/>
                        <a:t>Harga </a:t>
                      </a:r>
                      <a:r>
                        <a:rPr lang="en-ID" sz="1800" dirty="0" err="1"/>
                        <a:t>setelah</a:t>
                      </a:r>
                      <a:r>
                        <a:rPr lang="en-ID" sz="1800" dirty="0"/>
                        <a:t> discount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Rp  703.500.000 (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tujuh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ratus 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tiga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juta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lima ratus </a:t>
                      </a:r>
                      <a:r>
                        <a:rPr lang="en-ID" sz="1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ribu</a:t>
                      </a:r>
                      <a:r>
                        <a:rPr lang="en-ID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605803"/>
                  </a:ext>
                </a:extLst>
              </a:tr>
              <a:tr h="428827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endParaRPr lang="en-ID" sz="18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22401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45F46B0-F668-A081-1FBD-BFA4AAEBE2AE}"/>
              </a:ext>
            </a:extLst>
          </p:cNvPr>
          <p:cNvSpPr txBox="1"/>
          <p:nvPr/>
        </p:nvSpPr>
        <p:spPr>
          <a:xfrm>
            <a:off x="1475874" y="5843155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Catatan</a:t>
            </a:r>
            <a:r>
              <a:rPr lang="en-US" dirty="0">
                <a:solidFill>
                  <a:schemeClr val="bg1"/>
                </a:solidFill>
              </a:rPr>
              <a:t> : Program unlimited user  </a:t>
            </a:r>
          </a:p>
        </p:txBody>
      </p:sp>
    </p:spTree>
    <p:extLst>
      <p:ext uri="{BB962C8B-B14F-4D97-AF65-F5344CB8AC3E}">
        <p14:creationId xmlns:p14="http://schemas.microsoft.com/office/powerpoint/2010/main" val="874287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CAA8-6CD8-7D66-A3E5-93C5621FB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7159B8-A2B4-D051-7C83-BFC647B48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" y="0"/>
            <a:ext cx="1218726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D40E3D-91D1-9FA8-D8DB-FAF87CECD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505" y="129340"/>
            <a:ext cx="11353800" cy="17687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86406D7-7CA0-9A48-EAB1-1186D199B09F}"/>
              </a:ext>
            </a:extLst>
          </p:cNvPr>
          <p:cNvSpPr txBox="1">
            <a:spLocks/>
          </p:cNvSpPr>
          <p:nvPr/>
        </p:nvSpPr>
        <p:spPr>
          <a:xfrm>
            <a:off x="519545" y="3512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err="1">
                <a:solidFill>
                  <a:schemeClr val="bg1"/>
                </a:solidFill>
              </a:rPr>
              <a:t>Investasi</a:t>
            </a:r>
            <a:r>
              <a:rPr lang="en-US" sz="3200" b="1" dirty="0">
                <a:solidFill>
                  <a:schemeClr val="bg1"/>
                </a:solidFill>
              </a:rPr>
              <a:t> Program : Basic Fee </a:t>
            </a:r>
            <a:r>
              <a:rPr lang="en-US" sz="3200" b="1" dirty="0" err="1">
                <a:solidFill>
                  <a:schemeClr val="bg1"/>
                </a:solidFill>
              </a:rPr>
              <a:t>untuk</a:t>
            </a:r>
            <a:r>
              <a:rPr lang="en-US" sz="3200" b="1" dirty="0">
                <a:solidFill>
                  <a:schemeClr val="bg1"/>
                </a:solidFill>
              </a:rPr>
              <a:t> 2 </a:t>
            </a:r>
            <a:r>
              <a:rPr lang="en-US" sz="3200" b="1" dirty="0" err="1">
                <a:solidFill>
                  <a:schemeClr val="bg1"/>
                </a:solidFill>
              </a:rPr>
              <a:t>perusahaan</a:t>
            </a:r>
            <a:r>
              <a:rPr lang="en-US" sz="3200" b="1" dirty="0">
                <a:solidFill>
                  <a:schemeClr val="bg1"/>
                </a:solidFill>
              </a:rPr>
              <a:t>  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0AB5840C-C0DC-BCEB-CA46-907515BA9D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082200"/>
              </p:ext>
            </p:extLst>
          </p:nvPr>
        </p:nvGraphicFramePr>
        <p:xfrm>
          <a:off x="842937" y="1692658"/>
          <a:ext cx="10515600" cy="4367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307">
                  <a:extLst>
                    <a:ext uri="{9D8B030D-6E8A-4147-A177-3AD203B41FA5}">
                      <a16:colId xmlns:a16="http://schemas.microsoft.com/office/drawing/2014/main" val="2195789992"/>
                    </a:ext>
                  </a:extLst>
                </a:gridCol>
                <a:gridCol w="4413224">
                  <a:extLst>
                    <a:ext uri="{9D8B030D-6E8A-4147-A177-3AD203B41FA5}">
                      <a16:colId xmlns:a16="http://schemas.microsoft.com/office/drawing/2014/main" val="2295148663"/>
                    </a:ext>
                  </a:extLst>
                </a:gridCol>
                <a:gridCol w="5117069">
                  <a:extLst>
                    <a:ext uri="{9D8B030D-6E8A-4147-A177-3AD203B41FA5}">
                      <a16:colId xmlns:a16="http://schemas.microsoft.com/office/drawing/2014/main" val="4221804493"/>
                    </a:ext>
                  </a:extLst>
                </a:gridCol>
              </a:tblGrid>
              <a:tr h="54158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Program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Biaya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511498"/>
                  </a:ext>
                </a:extLst>
              </a:tr>
              <a:tr h="5920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process re-engineering proses dan </a:t>
                      </a:r>
                      <a:r>
                        <a:rPr lang="en-ID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keuangan</a:t>
                      </a:r>
                      <a:r>
                        <a:rPr lang="en-ID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 75.000.000 </a:t>
                      </a:r>
                    </a:p>
                    <a:p>
                      <a:pPr algn="l" fontAlgn="t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tujuh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puluh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lima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juta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rupiah)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092287"/>
                  </a:ext>
                </a:extLst>
              </a:tr>
              <a:tr h="5680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 err="1"/>
                        <a:t>Pengembangan</a:t>
                      </a:r>
                      <a:r>
                        <a:rPr lang="en-ID" sz="1600" dirty="0"/>
                        <a:t> ERP </a:t>
                      </a:r>
                      <a:r>
                        <a:rPr lang="en-ID" sz="1600" dirty="0" err="1"/>
                        <a:t>manufaktur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terintergasi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antar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perusahaan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 855.000.000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Delapan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ratus lima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puluh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lima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juta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rupiah)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625798"/>
                  </a:ext>
                </a:extLst>
              </a:tr>
              <a:tr h="2798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 err="1"/>
                        <a:t>Penyusunan</a:t>
                      </a:r>
                      <a:r>
                        <a:rPr lang="en-ID" sz="1600" dirty="0"/>
                        <a:t> KPI </a:t>
                      </a:r>
                      <a:r>
                        <a:rPr lang="en-ID" sz="1600" dirty="0" err="1"/>
                        <a:t>terintegrasi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ERP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 75.000.000 (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tujuh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puluh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lima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juta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rupiah)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277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/>
                        <a:t>Total </a:t>
                      </a:r>
                      <a:r>
                        <a:rPr lang="en-ID" sz="1600" dirty="0" err="1"/>
                        <a:t>biaya</a:t>
                      </a:r>
                      <a:r>
                        <a:rPr lang="en-ID" sz="1600" dirty="0"/>
                        <a:t> 1 Perusahaan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Rp  1.005.000.000 (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satu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milyar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lima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juta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rupiah)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208243"/>
                  </a:ext>
                </a:extLst>
              </a:tr>
              <a:tr h="372277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/>
                        <a:t>Discount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Rp  301.500.000 (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tiga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ratus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satu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juta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lima ratus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ribu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968154"/>
                  </a:ext>
                </a:extLst>
              </a:tr>
              <a:tr h="428827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/>
                        <a:t>Harga 1 Perusahaan </a:t>
                      </a:r>
                      <a:r>
                        <a:rPr lang="en-ID" sz="1600" dirty="0" err="1"/>
                        <a:t>setelah</a:t>
                      </a:r>
                      <a:r>
                        <a:rPr lang="en-ID" sz="1600" dirty="0"/>
                        <a:t> discount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Rp  703.500.000 (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tujuh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ratus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tiga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juta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lima ratus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ribu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4605803"/>
                  </a:ext>
                </a:extLst>
              </a:tr>
              <a:tr h="591589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 err="1"/>
                        <a:t>Tambahan</a:t>
                      </a:r>
                      <a:r>
                        <a:rPr lang="en-ID" sz="1600" dirty="0"/>
                        <a:t> 1 Perusahaan , discount 50%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Rp  351.750.000 (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tiga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ratus lima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puluh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satu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juta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tujuh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ratus lima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puluh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ribu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224015"/>
                  </a:ext>
                </a:extLst>
              </a:tr>
              <a:tr h="5915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/>
                        <a:t>Total </a:t>
                      </a:r>
                      <a:r>
                        <a:rPr lang="en-ID" sz="1600" dirty="0" err="1"/>
                        <a:t>biaya</a:t>
                      </a:r>
                      <a:r>
                        <a:rPr lang="en-ID" sz="1600" dirty="0"/>
                        <a:t> 2 Perusahaan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Rp 1.055.250.000 (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satu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milyar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lima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puluh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lima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juta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algn="l" defTabSz="914400" rtl="0" eaLnBrk="1" fontAlgn="t" latinLnBrk="0" hangingPunct="1"/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 dua ratus lima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puluh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ID" sz="16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ribu</a:t>
                      </a:r>
                      <a:r>
                        <a:rPr lang="en-ID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61119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1B1AB4E-6ED2-7310-FB96-26B560C2B583}"/>
              </a:ext>
            </a:extLst>
          </p:cNvPr>
          <p:cNvSpPr txBox="1"/>
          <p:nvPr/>
        </p:nvSpPr>
        <p:spPr>
          <a:xfrm>
            <a:off x="1351183" y="6189720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Catatan</a:t>
            </a:r>
            <a:r>
              <a:rPr lang="en-US" dirty="0">
                <a:solidFill>
                  <a:schemeClr val="bg1"/>
                </a:solidFill>
              </a:rPr>
              <a:t> : Program unlimited user  </a:t>
            </a:r>
          </a:p>
        </p:txBody>
      </p:sp>
    </p:spTree>
    <p:extLst>
      <p:ext uri="{BB962C8B-B14F-4D97-AF65-F5344CB8AC3E}">
        <p14:creationId xmlns:p14="http://schemas.microsoft.com/office/powerpoint/2010/main" val="3672431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165D9-6777-5E5A-1144-BCCA42ACE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5E7D55-311A-B762-FD32-B2E0F08F2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" y="0"/>
            <a:ext cx="1218726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3F19FB-C224-C301-9ED0-949083882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505" y="129340"/>
            <a:ext cx="11353800" cy="17687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FF2386F-08F1-28F0-0EBB-BCE90A99669F}"/>
              </a:ext>
            </a:extLst>
          </p:cNvPr>
          <p:cNvSpPr txBox="1">
            <a:spLocks/>
          </p:cNvSpPr>
          <p:nvPr/>
        </p:nvSpPr>
        <p:spPr>
          <a:xfrm>
            <a:off x="519545" y="3512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bg1"/>
                </a:solidFill>
              </a:rPr>
              <a:t>Term of Payment 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D489DAE-73B9-E96E-47B0-359DFE6FD7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1189155"/>
              </p:ext>
            </p:extLst>
          </p:nvPr>
        </p:nvGraphicFramePr>
        <p:xfrm>
          <a:off x="981482" y="1547487"/>
          <a:ext cx="9298591" cy="4806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785">
                  <a:extLst>
                    <a:ext uri="{9D8B030D-6E8A-4147-A177-3AD203B41FA5}">
                      <a16:colId xmlns:a16="http://schemas.microsoft.com/office/drawing/2014/main" val="2195789992"/>
                    </a:ext>
                  </a:extLst>
                </a:gridCol>
                <a:gridCol w="3019587">
                  <a:extLst>
                    <a:ext uri="{9D8B030D-6E8A-4147-A177-3AD203B41FA5}">
                      <a16:colId xmlns:a16="http://schemas.microsoft.com/office/drawing/2014/main" val="2295148663"/>
                    </a:ext>
                  </a:extLst>
                </a:gridCol>
                <a:gridCol w="2636697">
                  <a:extLst>
                    <a:ext uri="{9D8B030D-6E8A-4147-A177-3AD203B41FA5}">
                      <a16:colId xmlns:a16="http://schemas.microsoft.com/office/drawing/2014/main" val="4221804493"/>
                    </a:ext>
                  </a:extLst>
                </a:gridCol>
                <a:gridCol w="3057522">
                  <a:extLst>
                    <a:ext uri="{9D8B030D-6E8A-4147-A177-3AD203B41FA5}">
                      <a16:colId xmlns:a16="http://schemas.microsoft.com/office/drawing/2014/main" val="3683937146"/>
                    </a:ext>
                  </a:extLst>
                </a:gridCol>
              </a:tblGrid>
              <a:tr h="54158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Program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511498"/>
                  </a:ext>
                </a:extLst>
              </a:tr>
              <a:tr h="5920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Business process re-engineering proses dan </a:t>
                      </a:r>
                      <a:r>
                        <a:rPr lang="en-ID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keuangan</a:t>
                      </a:r>
                      <a:r>
                        <a:rPr lang="en-ID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Setelah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business process re-engineering proses dan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keuangan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selesai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nilai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business process re-engineering proses dan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keuangan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092287"/>
                  </a:ext>
                </a:extLst>
              </a:tr>
              <a:tr h="568037">
                <a:tc rowSpan="5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 err="1"/>
                        <a:t>Pengembangan</a:t>
                      </a:r>
                      <a:r>
                        <a:rPr lang="en-ID" sz="1600" dirty="0"/>
                        <a:t> ERP </a:t>
                      </a:r>
                      <a:r>
                        <a:rPr lang="en-ID" sz="1600" dirty="0" err="1"/>
                        <a:t>manufaktur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terintergasi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antar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perusahaan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nilai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program ERP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625798"/>
                  </a:ext>
                </a:extLst>
              </a:tr>
              <a:tr h="568037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 Live Purchasing, Warehouse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nilai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program ERP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66226"/>
                  </a:ext>
                </a:extLst>
              </a:tr>
              <a:tr h="568037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 Live Sales, production, delivery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nilai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program ERP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394501"/>
                  </a:ext>
                </a:extLst>
              </a:tr>
              <a:tr h="568037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 live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keseluruhan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nilai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program ERP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862227"/>
                  </a:ext>
                </a:extLst>
              </a:tr>
              <a:tr h="568037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Penggunaan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program 3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bulan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nilai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progam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622345"/>
                  </a:ext>
                </a:extLst>
              </a:tr>
              <a:tr h="2798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dirty="0" err="1"/>
                        <a:t>Penyusunan</a:t>
                      </a:r>
                      <a:r>
                        <a:rPr lang="en-ID" sz="1600" dirty="0"/>
                        <a:t> KPI </a:t>
                      </a:r>
                      <a:r>
                        <a:rPr lang="en-ID" sz="1600" dirty="0" err="1"/>
                        <a:t>terintegrasi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dengan</a:t>
                      </a:r>
                      <a:r>
                        <a:rPr lang="en-ID" sz="1600" dirty="0"/>
                        <a:t> ERP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Setelah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KPI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Selesa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setelah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program KPI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selesai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2772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A910390-563A-A54E-D7DF-399586C83D7D}"/>
              </a:ext>
            </a:extLst>
          </p:cNvPr>
          <p:cNvSpPr txBox="1"/>
          <p:nvPr/>
        </p:nvSpPr>
        <p:spPr>
          <a:xfrm>
            <a:off x="949396" y="6414622"/>
            <a:ext cx="85075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Catatan</a:t>
            </a:r>
            <a:r>
              <a:rPr lang="en-US" sz="1600" dirty="0">
                <a:solidFill>
                  <a:schemeClr val="bg1"/>
                </a:solidFill>
              </a:rPr>
              <a:t> : </a:t>
            </a:r>
            <a:r>
              <a:rPr lang="en-US" sz="1600" dirty="0" err="1">
                <a:solidFill>
                  <a:schemeClr val="bg1"/>
                </a:solidFill>
              </a:rPr>
              <a:t>untuk</a:t>
            </a:r>
            <a:r>
              <a:rPr lang="en-US" sz="1600" dirty="0">
                <a:solidFill>
                  <a:schemeClr val="bg1"/>
                </a:solidFill>
              </a:rPr>
              <a:t> 2 Perusahaan </a:t>
            </a:r>
            <a:r>
              <a:rPr lang="en-US" sz="1600" dirty="0" err="1">
                <a:solidFill>
                  <a:schemeClr val="bg1"/>
                </a:solidFill>
              </a:rPr>
              <a:t>nilai</a:t>
            </a:r>
            <a:r>
              <a:rPr lang="en-US" sz="1600" dirty="0">
                <a:solidFill>
                  <a:schemeClr val="bg1"/>
                </a:solidFill>
              </a:rPr>
              <a:t> TOP </a:t>
            </a:r>
            <a:r>
              <a:rPr lang="en-US" sz="1600" dirty="0" err="1">
                <a:solidFill>
                  <a:schemeClr val="bg1"/>
                </a:solidFill>
              </a:rPr>
              <a:t>proporsional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sesuai</a:t>
            </a:r>
            <a:r>
              <a:rPr lang="en-US" sz="1600" dirty="0">
                <a:solidFill>
                  <a:schemeClr val="bg1"/>
                </a:solidFill>
              </a:rPr>
              <a:t> progress </a:t>
            </a:r>
            <a:r>
              <a:rPr lang="en-US" sz="1600" dirty="0" err="1">
                <a:solidFill>
                  <a:schemeClr val="bg1"/>
                </a:solidFill>
              </a:rPr>
              <a:t>dari</a:t>
            </a:r>
            <a:r>
              <a:rPr lang="en-US" sz="1600" dirty="0">
                <a:solidFill>
                  <a:schemeClr val="bg1"/>
                </a:solidFill>
              </a:rPr>
              <a:t> masing-masing </a:t>
            </a:r>
            <a:r>
              <a:rPr lang="en-US" sz="1600" dirty="0" err="1">
                <a:solidFill>
                  <a:schemeClr val="bg1"/>
                </a:solidFill>
              </a:rPr>
              <a:t>perusahaan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14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A1FF-E8B3-8415-9A5F-2E42C2F1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073CE2-450C-767F-B61E-CDE541392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" y="0"/>
            <a:ext cx="1218726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73519A-00D3-7F9C-798B-9C139DA06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505" y="129340"/>
            <a:ext cx="11353800" cy="17687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47881C6-506A-2991-128C-DA3AB23564B9}"/>
              </a:ext>
            </a:extLst>
          </p:cNvPr>
          <p:cNvSpPr txBox="1">
            <a:spLocks/>
          </p:cNvSpPr>
          <p:nvPr/>
        </p:nvSpPr>
        <p:spPr>
          <a:xfrm>
            <a:off x="519545" y="3512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err="1">
                <a:solidFill>
                  <a:schemeClr val="bg1"/>
                </a:solidFill>
              </a:rPr>
              <a:t>Investasi</a:t>
            </a:r>
            <a:r>
              <a:rPr lang="en-US" sz="3200" b="1" dirty="0">
                <a:solidFill>
                  <a:schemeClr val="bg1"/>
                </a:solidFill>
              </a:rPr>
              <a:t> Program :  Success fee 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7FB2FEB-9536-D6D4-F671-F139DCEA65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034970"/>
              </p:ext>
            </p:extLst>
          </p:nvPr>
        </p:nvGraphicFramePr>
        <p:xfrm>
          <a:off x="1091048" y="1832244"/>
          <a:ext cx="10515600" cy="268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307">
                  <a:extLst>
                    <a:ext uri="{9D8B030D-6E8A-4147-A177-3AD203B41FA5}">
                      <a16:colId xmlns:a16="http://schemas.microsoft.com/office/drawing/2014/main" val="2195789992"/>
                    </a:ext>
                  </a:extLst>
                </a:gridCol>
                <a:gridCol w="5162645">
                  <a:extLst>
                    <a:ext uri="{9D8B030D-6E8A-4147-A177-3AD203B41FA5}">
                      <a16:colId xmlns:a16="http://schemas.microsoft.com/office/drawing/2014/main" val="2295148663"/>
                    </a:ext>
                  </a:extLst>
                </a:gridCol>
                <a:gridCol w="4367648">
                  <a:extLst>
                    <a:ext uri="{9D8B030D-6E8A-4147-A177-3AD203B41FA5}">
                      <a16:colId xmlns:a16="http://schemas.microsoft.com/office/drawing/2014/main" val="4221804493"/>
                    </a:ext>
                  </a:extLst>
                </a:gridCol>
              </a:tblGrid>
              <a:tr h="54158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Besaran</a:t>
                      </a:r>
                      <a:r>
                        <a:rPr lang="en-US" sz="2000" dirty="0"/>
                        <a:t> saving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Biaya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511498"/>
                  </a:ext>
                </a:extLst>
              </a:tr>
              <a:tr h="46482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 Rp 300.000.000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092287"/>
                  </a:ext>
                </a:extLst>
              </a:tr>
              <a:tr h="21191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 300.000.000 s/d Rp 2.000. 000.000</a:t>
                      </a:r>
                      <a:endParaRPr lang="en-ID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625798"/>
                  </a:ext>
                </a:extLst>
              </a:tr>
              <a:tr h="2108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 2.000.000.000 s/d  Rp 4.000. 000.000</a:t>
                      </a:r>
                      <a:endParaRPr lang="en-ID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277262"/>
                  </a:ext>
                </a:extLst>
              </a:tr>
              <a:tr h="41661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 4.000.000.000 s/d  Rp 10.000. 000.000</a:t>
                      </a:r>
                      <a:endParaRPr lang="en-ID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208243"/>
                  </a:ext>
                </a:extLst>
              </a:tr>
              <a:tr h="53500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dirty="0"/>
                        <a:t>&gt; </a:t>
                      </a:r>
                      <a:r>
                        <a:rPr lang="en-ID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Rp 10.000. 000.000</a:t>
                      </a:r>
                      <a:endParaRPr lang="en-ID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Fix Rp 2.000.000.000 (dua </a:t>
                      </a:r>
                      <a:r>
                        <a:rPr lang="en-ID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milyar</a:t>
                      </a:r>
                      <a:r>
                        <a:rPr lang="en-ID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rupiah)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70508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4847EBD-DA9D-8117-32F4-EA483C3F4716}"/>
              </a:ext>
            </a:extLst>
          </p:cNvPr>
          <p:cNvSpPr txBox="1"/>
          <p:nvPr/>
        </p:nvSpPr>
        <p:spPr>
          <a:xfrm>
            <a:off x="1524001" y="5416873"/>
            <a:ext cx="96706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chemeClr val="bg1"/>
                </a:solidFill>
              </a:rPr>
              <a:t>Catatan</a:t>
            </a:r>
            <a:r>
              <a:rPr lang="en-US" dirty="0">
                <a:solidFill>
                  <a:schemeClr val="bg1"/>
                </a:solidFill>
              </a:rPr>
              <a:t>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Dasar </a:t>
            </a:r>
            <a:r>
              <a:rPr lang="en-ID" sz="18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perhitungan</a:t>
            </a: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 success fee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Total </a:t>
            </a:r>
            <a:r>
              <a:rPr lang="en-ID" sz="18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pengeluaran</a:t>
            </a: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 6 </a:t>
            </a:r>
            <a:r>
              <a:rPr lang="en-ID" sz="18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bulan</a:t>
            </a: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sebelum</a:t>
            </a: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 improvement, vs total </a:t>
            </a:r>
            <a:r>
              <a:rPr lang="en-ID" sz="18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pengeluaran</a:t>
            </a: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 6 </a:t>
            </a:r>
            <a:r>
              <a:rPr lang="en-ID" sz="18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bulan</a:t>
            </a: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setelah</a:t>
            </a:r>
            <a:r>
              <a:rPr lang="en-ID" sz="18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 improvement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433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9E725-8AD7-1C5C-1CAA-8B00CEDA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FF91FB-BA3E-77C6-8949-434C78B6A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" y="0"/>
            <a:ext cx="1218726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55E3D7-2575-FB94-D212-FA36348327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505" y="129340"/>
            <a:ext cx="11353800" cy="17687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7BF9EBB-A3B3-7EC7-7628-087C4F8DA88A}"/>
              </a:ext>
            </a:extLst>
          </p:cNvPr>
          <p:cNvSpPr txBox="1">
            <a:spLocks/>
          </p:cNvSpPr>
          <p:nvPr/>
        </p:nvSpPr>
        <p:spPr>
          <a:xfrm>
            <a:off x="519545" y="35127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err="1">
                <a:solidFill>
                  <a:schemeClr val="bg1"/>
                </a:solidFill>
              </a:rPr>
              <a:t>Investasi</a:t>
            </a:r>
            <a:r>
              <a:rPr lang="en-US" sz="3200" b="1" dirty="0">
                <a:solidFill>
                  <a:schemeClr val="bg1"/>
                </a:solidFill>
              </a:rPr>
              <a:t> Program (Optional)   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CB95BCE7-AB49-B776-3366-E06474997F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831409"/>
              </p:ext>
            </p:extLst>
          </p:nvPr>
        </p:nvGraphicFramePr>
        <p:xfrm>
          <a:off x="1170705" y="1869338"/>
          <a:ext cx="9348217" cy="3241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924">
                  <a:extLst>
                    <a:ext uri="{9D8B030D-6E8A-4147-A177-3AD203B41FA5}">
                      <a16:colId xmlns:a16="http://schemas.microsoft.com/office/drawing/2014/main" val="2195789992"/>
                    </a:ext>
                  </a:extLst>
                </a:gridCol>
                <a:gridCol w="2833472">
                  <a:extLst>
                    <a:ext uri="{9D8B030D-6E8A-4147-A177-3AD203B41FA5}">
                      <a16:colId xmlns:a16="http://schemas.microsoft.com/office/drawing/2014/main" val="2295148663"/>
                    </a:ext>
                  </a:extLst>
                </a:gridCol>
                <a:gridCol w="5638821">
                  <a:extLst>
                    <a:ext uri="{9D8B030D-6E8A-4147-A177-3AD203B41FA5}">
                      <a16:colId xmlns:a16="http://schemas.microsoft.com/office/drawing/2014/main" val="4221804493"/>
                    </a:ext>
                  </a:extLst>
                </a:gridCol>
              </a:tblGrid>
              <a:tr h="5327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 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Program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Biaya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0511498"/>
                  </a:ext>
                </a:extLst>
              </a:tr>
              <a:tr h="48168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Penggunaan</a:t>
                      </a:r>
                      <a:r>
                        <a:rPr lang="en-ID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program di Perusahaan yang lain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 200.000.000 (Dua Ratus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juta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rupiah/ Perusahaan)</a:t>
                      </a:r>
                    </a:p>
                    <a:p>
                      <a:pPr algn="l" fontAlgn="t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t"/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Meliputi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  <a:p>
                      <a:pPr marL="342900" indent="-342900" algn="l" fontAlgn="t">
                        <a:buFontTx/>
                        <a:buChar char="-"/>
                      </a:pP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Penyiapan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</a:t>
                      </a:r>
                    </a:p>
                    <a:p>
                      <a:pPr marL="342900" indent="-342900" algn="l" fontAlgn="t">
                        <a:buFontTx/>
                        <a:buChar char="-"/>
                      </a:pP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ERP </a:t>
                      </a:r>
                    </a:p>
                    <a:p>
                      <a:pPr marL="342900" indent="-342900" algn="l" fontAlgn="t">
                        <a:buFontTx/>
                        <a:buChar char="-"/>
                      </a:pP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Migrasi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data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092287"/>
                  </a:ext>
                </a:extLst>
              </a:tr>
              <a:tr h="78821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2000" dirty="0"/>
                        <a:t>Maintenance (</a:t>
                      </a:r>
                      <a:r>
                        <a:rPr lang="en-ID" sz="2000" dirty="0" err="1"/>
                        <a:t>setelah</a:t>
                      </a:r>
                      <a:r>
                        <a:rPr lang="en-ID" sz="2000" dirty="0"/>
                        <a:t> program </a:t>
                      </a:r>
                      <a:r>
                        <a:rPr lang="en-ID" sz="2000" dirty="0" err="1"/>
                        <a:t>berjalan</a:t>
                      </a:r>
                      <a:r>
                        <a:rPr lang="en-ID" sz="20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 10.000.000 (lima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juta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)/  per factory/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bulan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625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542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7" y="0"/>
            <a:ext cx="12187264" cy="768216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08175" y="-88366"/>
            <a:ext cx="9426001" cy="173143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401500" y="634833"/>
            <a:ext cx="77544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buSzPts val="990"/>
            </a:pPr>
            <a:r>
              <a:rPr lang="en" sz="3813" b="1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Persetujuan</a:t>
            </a:r>
            <a:r>
              <a:rPr lang="en" sz="3813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Proposal</a:t>
            </a:r>
            <a:endParaRPr sz="1893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2"/>
          <p:cNvSpPr txBox="1">
            <a:spLocks noGrp="1"/>
          </p:cNvSpPr>
          <p:nvPr>
            <p:ph type="body" idx="1"/>
          </p:nvPr>
        </p:nvSpPr>
        <p:spPr>
          <a:xfrm>
            <a:off x="153000" y="1810000"/>
            <a:ext cx="11886000" cy="5048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/>
          <a:p>
            <a:pPr marL="0" indent="0" algn="just">
              <a:buNone/>
            </a:pPr>
            <a:r>
              <a:rPr lang="en" sz="2267" b="1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PT </a:t>
            </a:r>
            <a:r>
              <a:rPr lang="en" sz="2267" b="1" dirty="0" err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Vuca</a:t>
            </a:r>
            <a:r>
              <a:rPr lang="en" sz="2267" b="1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 Strategi </a:t>
            </a:r>
            <a:r>
              <a:rPr lang="en" sz="2267" b="1" dirty="0" err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Bisnis</a:t>
            </a:r>
            <a:r>
              <a:rPr lang="en" sz="2267" b="1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" sz="2267" dirty="0" err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bersedia</a:t>
            </a:r>
            <a:r>
              <a:rPr lang="en" sz="2267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 mengadakan kerjasama lebih lanjut mengenai masalah technical dan commercial sehubungan dengan proposal ini.</a:t>
            </a:r>
            <a:endParaRPr sz="2267" dirty="0">
              <a:solidFill>
                <a:schemeClr val="lt1"/>
              </a:solidFill>
              <a:ea typeface="Calibri"/>
              <a:cs typeface="Calibri"/>
              <a:sym typeface="Calibri"/>
            </a:endParaRPr>
          </a:p>
          <a:p>
            <a:pPr marL="0" indent="0" algn="just">
              <a:buClr>
                <a:schemeClr val="dk1"/>
              </a:buClr>
              <a:buSzPct val="64705"/>
              <a:buNone/>
            </a:pPr>
            <a:endParaRPr sz="2267" dirty="0">
              <a:solidFill>
                <a:schemeClr val="lt1"/>
              </a:solidFill>
              <a:ea typeface="Calibri"/>
              <a:cs typeface="Calibri"/>
              <a:sym typeface="Calibri"/>
            </a:endParaRPr>
          </a:p>
          <a:p>
            <a:pPr marL="0" indent="0" algn="just">
              <a:buNone/>
            </a:pPr>
            <a:r>
              <a:rPr lang="en-ID" sz="2400" dirty="0">
                <a:solidFill>
                  <a:schemeClr val="bg1"/>
                </a:solidFill>
              </a:rPr>
              <a:t>Jika </a:t>
            </a:r>
            <a:r>
              <a:rPr lang="en-ID" sz="2400" dirty="0" err="1">
                <a:solidFill>
                  <a:schemeClr val="bg1"/>
                </a:solidFill>
              </a:rPr>
              <a:t>Pihak</a:t>
            </a:r>
            <a:r>
              <a:rPr lang="en-ID" sz="2400" dirty="0">
                <a:solidFill>
                  <a:schemeClr val="bg1"/>
                </a:solidFill>
              </a:rPr>
              <a:t> </a:t>
            </a:r>
            <a:r>
              <a:rPr lang="en-ID" sz="2400" b="1" dirty="0">
                <a:solidFill>
                  <a:schemeClr val="bg1"/>
                </a:solidFill>
              </a:rPr>
              <a:t>PT Harapan Fajar </a:t>
            </a:r>
            <a:r>
              <a:rPr lang="en-ID" sz="2400" b="1" dirty="0" err="1">
                <a:solidFill>
                  <a:schemeClr val="bg1"/>
                </a:solidFill>
              </a:rPr>
              <a:t>Gemilang</a:t>
            </a:r>
            <a:r>
              <a:rPr lang="en-ID" sz="2400" b="1" dirty="0">
                <a:solidFill>
                  <a:schemeClr val="bg1"/>
                </a:solidFill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setuju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dengan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penawaran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b="1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No. 055/VSB/INT-IM/X/25 rev 1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Tanggal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21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Oktober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2025,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silahkan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Bapak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menandatangani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persetujuan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ini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dan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mengembalikannya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kepada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kami. Kami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akan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mengirimkan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perjanjian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kontrak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yang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akan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ditandatangani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ID" sz="2400" dirty="0" err="1">
                <a:solidFill>
                  <a:schemeClr val="bg1"/>
                </a:solidFill>
                <a:ea typeface="Calibri"/>
                <a:cs typeface="Calibri"/>
                <a:sym typeface="Calibri"/>
              </a:rPr>
              <a:t>bersama</a:t>
            </a:r>
            <a:r>
              <a:rPr lang="en-ID" sz="2400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. </a:t>
            </a:r>
          </a:p>
          <a:p>
            <a:pPr marL="0" indent="0" algn="just">
              <a:buNone/>
            </a:pPr>
            <a:endParaRPr sz="2267" b="1" dirty="0">
              <a:solidFill>
                <a:srgbClr val="01488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just">
              <a:buNone/>
            </a:pPr>
            <a:r>
              <a:rPr lang="en" sz="2267" b="1" dirty="0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Jakarta, 21 </a:t>
            </a:r>
            <a:r>
              <a:rPr lang="en" sz="2267" b="1" dirty="0" err="1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Oktober</a:t>
            </a:r>
            <a:r>
              <a:rPr lang="en" sz="2267" b="1" dirty="0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 2025</a:t>
            </a:r>
            <a:endParaRPr sz="2267" b="1" dirty="0">
              <a:solidFill>
                <a:srgbClr val="01488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just">
              <a:buNone/>
            </a:pPr>
            <a:endParaRPr sz="2267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just">
              <a:buNone/>
            </a:pPr>
            <a:endParaRPr sz="2267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just">
              <a:buNone/>
            </a:pPr>
            <a:endParaRPr sz="2267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just">
              <a:buNone/>
            </a:pPr>
            <a:endParaRPr sz="2267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just">
              <a:buNone/>
            </a:pPr>
            <a:endParaRPr sz="2267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just">
              <a:buNone/>
            </a:pPr>
            <a:r>
              <a:rPr lang="en" sz="2267" b="1" u="sng" dirty="0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Imanuel Iman</a:t>
            </a:r>
            <a:r>
              <a:rPr lang="en" sz="2267" b="1" dirty="0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					</a:t>
            </a:r>
            <a:r>
              <a:rPr lang="en" sz="2267" b="1" u="sng" dirty="0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Lucky</a:t>
            </a:r>
            <a:endParaRPr sz="2267" b="1" u="sng" dirty="0">
              <a:solidFill>
                <a:srgbClr val="01488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 algn="just">
              <a:buClr>
                <a:schemeClr val="dk1"/>
              </a:buClr>
              <a:buSzPct val="64705"/>
              <a:buNone/>
            </a:pPr>
            <a:r>
              <a:rPr lang="en" sz="2267" b="1" dirty="0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PT </a:t>
            </a:r>
            <a:r>
              <a:rPr lang="en" sz="2267" b="1" dirty="0" err="1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Vuca</a:t>
            </a:r>
            <a:r>
              <a:rPr lang="en" sz="2267" b="1" dirty="0">
                <a:solidFill>
                  <a:srgbClr val="01488F"/>
                </a:solidFill>
                <a:latin typeface="Calibri"/>
                <a:ea typeface="Calibri"/>
                <a:cs typeface="Calibri"/>
                <a:sym typeface="Calibri"/>
              </a:rPr>
              <a:t> Strategi Business			</a:t>
            </a:r>
            <a:r>
              <a:rPr lang="en-ID" sz="2300" b="1" dirty="0">
                <a:solidFill>
                  <a:srgbClr val="01488F"/>
                </a:solidFill>
                <a:latin typeface="Calibri"/>
                <a:cs typeface="Calibri"/>
              </a:rPr>
              <a:t>PT Harapan Fajar </a:t>
            </a:r>
            <a:r>
              <a:rPr lang="en-ID" sz="2300" b="1" dirty="0" err="1">
                <a:solidFill>
                  <a:srgbClr val="01488F"/>
                </a:solidFill>
                <a:latin typeface="Calibri"/>
                <a:cs typeface="Calibri"/>
              </a:rPr>
              <a:t>Gemilang</a:t>
            </a:r>
            <a:endParaRPr sz="2300" b="1" dirty="0">
              <a:solidFill>
                <a:srgbClr val="01488F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2107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" y="0"/>
            <a:ext cx="12187264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0029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2465</TotalTime>
  <Words>1262</Words>
  <Application>Microsoft Macintosh PowerPoint</Application>
  <PresentationFormat>Widescreen</PresentationFormat>
  <Paragraphs>201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Montserrat</vt:lpstr>
      <vt:lpstr>Montserrat ExtraBold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Latar Belakang</vt:lpstr>
      <vt:lpstr>Identifikasi Permasalahan  Pain Point , berdasarkan hasil diskusi</vt:lpstr>
      <vt:lpstr>Potensi Peluang lainnya</vt:lpstr>
      <vt:lpstr>Ruang Lingkup Pekerjaan</vt:lpstr>
      <vt:lpstr>Tahapan Pekerjaan Phase 1  :  Identifikasi kondisi saat ini </vt:lpstr>
      <vt:lpstr>Tahapan Pekerjaan Phase 2  :  Penyusunan strategi laporan keuangan dan usulan bisnis proses </vt:lpstr>
      <vt:lpstr>Tahapan Pekerjaan Phase 3  :  Pengembangan modul ERP dan sistem keuangan </vt:lpstr>
      <vt:lpstr>Tahapan Pekerjaan Phase 4  :  Pengembangan modul ERP dan sistem keuangan </vt:lpstr>
      <vt:lpstr>Tahapan Pekerjaan Phase 5  :  Pelaporan hasil </vt:lpstr>
      <vt:lpstr>Detil Modul Dan Biaya</vt:lpstr>
      <vt:lpstr>Detil Modul Dan Biaya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Rofii Marcello</dc:creator>
  <cp:lastModifiedBy>Imanuel Iman</cp:lastModifiedBy>
  <cp:revision>76</cp:revision>
  <cp:lastPrinted>2022-10-20T06:14:05Z</cp:lastPrinted>
  <dcterms:created xsi:type="dcterms:W3CDTF">2022-10-18T10:00:44Z</dcterms:created>
  <dcterms:modified xsi:type="dcterms:W3CDTF">2025-10-28T03:48:02Z</dcterms:modified>
</cp:coreProperties>
</file>