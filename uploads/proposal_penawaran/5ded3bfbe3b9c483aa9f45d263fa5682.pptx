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70" r:id="rId4"/>
    <p:sldId id="1557" r:id="rId5"/>
    <p:sldId id="1558" r:id="rId6"/>
    <p:sldId id="1559" r:id="rId7"/>
    <p:sldId id="1562" r:id="rId8"/>
    <p:sldId id="1561" r:id="rId9"/>
    <p:sldId id="622" r:id="rId10"/>
    <p:sldId id="154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56"/>
    <a:srgbClr val="236A8C"/>
    <a:srgbClr val="1B506B"/>
    <a:srgbClr val="509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00984-2885-4C23-AB24-54EACB59B03E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6F680-E119-43CD-9D20-FB0E31DCA8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14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8736-8FEC-5ECE-CE4B-16DA07302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FAB6E-9F78-7237-3061-3DF820E81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B5B83-8D21-9EA9-7BF8-CD69CBEE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39C9C-986B-393A-33D2-7E9A9229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7EE53-74DD-33E2-A907-CE114900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6211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5C41-A02A-316C-2A55-87C78213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53B1-914D-4E93-E4BA-DBD48D7C2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393D2-C479-69AE-92E2-B7C892E7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A3FE-EE42-8B94-2051-A0608298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4C4FE-042A-DE00-23FE-4CE78CBF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060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15C-2F0E-EAB1-4331-CCBA4FF6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E8AEB-C9A6-1A00-C0C7-B4E696D64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78938-85AD-F717-9BC2-AF9664FD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CDE94-E00A-1FAC-4B4E-14DD1029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5EB-2AA9-8CAF-D478-F6E30AFF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605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0E33-D300-AB13-407E-02D45B59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219F-8C60-CEE5-BEC1-03B7E875A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039B-A755-7CB8-9A5D-DF1329E80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200F2-38AC-2B5E-2F24-46267C72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6C5E3-7AC9-A01D-8AD3-D0AFE57D8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455C8-5132-15BE-DF1C-ECBC1904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190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A588-E8A7-F6B1-A96D-EC18EE4B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32C-B1FA-2422-A0BF-CE302709D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EE3B6-82DE-7956-3A59-9D382A7E6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E58B9-65EE-9A76-67B3-520DE1840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82C45-3D81-8264-E5FC-8889E6ADD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0C529-908D-FDAA-055E-56E0CF33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092F6-57B3-D6E6-B768-99E03314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BAD6E0-A501-B1C0-0C08-06FDC79F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6093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2093-883C-A01C-AABB-D294A51F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749A5-0B92-CBC8-D294-94B23011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083AF-0A2F-F167-53BF-52575CEC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5DCF9-3E94-3A0E-9A3F-03D171DD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769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7EBDE-86C7-A19C-8A08-201B2453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0DB0A-9783-8AD4-9882-A6821C02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A34D6-0C11-89BC-7436-75991D76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48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CAF2-4E77-6403-5728-9D30A417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23163-01F2-0330-9854-B43D074C0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00607-4993-6862-4540-2D69F554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B8696-5062-39DF-ABD0-7A504DDA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12F75-4C8B-A245-7DC7-094ACA17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C8EF3-20EB-E6EA-59AC-B9DA0602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657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D602-927E-9F4E-192B-C1AE9236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E98D9-0C9C-72B8-35CA-171B62887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D409C-732A-44F9-FEBC-104628773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E98A0-FD71-10CD-FB35-CC71DD06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33CCF-496B-8E2F-DC6B-40BFA8BE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EF6B6-74B8-CD30-958A-516F6C76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040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6EF1-B21C-153A-8B8E-9E6BB09A2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D1BC3-43D1-18E3-75A1-4BB19287A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7CDD-7EE4-9144-C81F-16C517F1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1BFD9-79E2-CB28-7256-4CBCE7DB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9FAE7-A309-1CDF-20D7-0DA009B6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966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6827EE-7AE2-9FA6-F669-456C23B48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75C05-4011-2DA3-4FA9-43666EABB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31055-E377-9D82-E27E-F31DEA0E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77560-A50E-846E-FC2D-FEFC3FE4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CE6AC-4D51-1D35-6A7D-B4909B5D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7870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947929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573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278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C275FF9-FACB-41D3-82C5-4B49C0F013B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E673F4-2E5F-4E41-BFDF-907F90E3296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D7AE57D-7CC1-4AD1-A247-88D61476160E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EB9B0FC-870B-49B2-B6FB-FE7F626B1033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442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246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C5F11EE-6599-4EE8-9635-5386935467E5}"/>
              </a:ext>
            </a:extLst>
          </p:cNvPr>
          <p:cNvGrpSpPr/>
          <p:nvPr userDrawn="1"/>
        </p:nvGrpSpPr>
        <p:grpSpPr>
          <a:xfrm>
            <a:off x="4934692" y="1876590"/>
            <a:ext cx="2297808" cy="4039426"/>
            <a:chOff x="445712" y="1449040"/>
            <a:chExt cx="2113018" cy="3924176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1DFBAA1A-A097-491A-AD06-5325C8670C73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6029E473-2071-4803-A8F4-17B7CDA8FA8D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4AEF078B-F6E3-4B65-ACF1-AF9422CF21C6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69F4797F-2F94-405A-8428-3EC22B58449F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7" name="Rounded Rectangle 10">
                <a:extLst>
                  <a:ext uri="{FF2B5EF4-FFF2-40B4-BE49-F238E27FC236}">
                    <a16:creationId xmlns:a16="http://schemas.microsoft.com/office/drawing/2014/main" id="{AFD20A30-03F4-4B69-8633-D3B8477EB21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42B02DD-4EDE-4522-9A61-986E7528E17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075352" y="2234767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3D4E7D2-26F4-457E-8E14-780B82CDE4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6207BAF-BD62-487A-8475-7C750FC5A7D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2802353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A4D91E6-8283-4C22-9E1A-C3BC1679254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9354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C6F000E-F7A9-4BCD-92D9-6FC81D765DED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9621348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5F1ACAB3-51BE-4E70-873B-1F132DCDBC6E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348350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123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052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197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8357B3-2E34-4F39-B756-E299CFBDC402}"/>
              </a:ext>
            </a:extLst>
          </p:cNvPr>
          <p:cNvSpPr/>
          <p:nvPr userDrawn="1"/>
        </p:nvSpPr>
        <p:spPr>
          <a:xfrm flipV="1">
            <a:off x="0" y="0"/>
            <a:ext cx="12192000" cy="3789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0A1D73-105E-4E5D-BD00-75D42F04E752}"/>
              </a:ext>
            </a:extLst>
          </p:cNvPr>
          <p:cNvGrpSpPr/>
          <p:nvPr userDrawn="1"/>
        </p:nvGrpSpPr>
        <p:grpSpPr>
          <a:xfrm>
            <a:off x="1457580" y="1983192"/>
            <a:ext cx="4076388" cy="2239699"/>
            <a:chOff x="-548507" y="477868"/>
            <a:chExt cx="11570449" cy="635717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27DBBCB-4401-44ED-920A-12E7269E80B6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D0B6B57-56F4-406C-9CA7-A4CA5B11C797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3B956E-5D66-4307-A2E7-E9FA5B539907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5EE92CA-899F-425C-A63B-36E12A1AA71F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78E0223-7544-400B-B4F2-411001566586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178527-EF95-4555-A5A4-23AE7F86184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D4E21D9A-AF31-4321-8ADB-4A220FB2662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1CAD8977-4D75-4764-848B-BF5A1E80844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DC0C7F0-18B7-478F-8D82-246AACAEF1E9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2075E2C-D5F3-4994-8282-97D13D60859B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85D545D-D0E2-4968-9CEC-9F84CB82E84B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A92790C-9439-4EAE-B4F7-C353D5D1A461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BAAF6B-FFDB-4CB4-850F-EB1CE4E4F138}"/>
              </a:ext>
            </a:extLst>
          </p:cNvPr>
          <p:cNvGrpSpPr/>
          <p:nvPr userDrawn="1"/>
        </p:nvGrpSpPr>
        <p:grpSpPr>
          <a:xfrm>
            <a:off x="6680577" y="1989916"/>
            <a:ext cx="4076388" cy="2239699"/>
            <a:chOff x="-548507" y="477868"/>
            <a:chExt cx="11570449" cy="635717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329497-4227-440D-98C7-6DCA3B2A7BC5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C0F191-F14A-4820-A6C6-CBCDEF9CFAC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78A2B80-9D49-448D-BD5F-E304755EF67C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0C0C66C-E1A9-4BFB-AF95-918B0BBE6EAF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DEDF813-7532-47B9-8AC1-5CB1835840ED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53EDB8C-3C97-404A-819A-F86077A38106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FF7EFF3-9E63-44EF-82BD-BF61948E594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856CE1D4-4324-46B5-9862-4ACBD471BC91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ACA75A2-3BBB-415E-83C9-CDB1341DD134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9387AC2E-20CE-4BBF-9978-D95C6D16ACA1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C753F6ED-377B-494A-9591-28D212149747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7FB95D9-A3ED-416B-A272-948BBFD88505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그림 개체 틀 2">
            <a:extLst>
              <a:ext uri="{FF2B5EF4-FFF2-40B4-BE49-F238E27FC236}">
                <a16:creationId xmlns:a16="http://schemas.microsoft.com/office/drawing/2014/main" id="{BEEB3C91-BF69-4AA6-9705-3AA5D7BF45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05255" y="2088314"/>
            <a:ext cx="2985423" cy="181415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0" name="그림 개체 틀 2">
            <a:extLst>
              <a:ext uri="{FF2B5EF4-FFF2-40B4-BE49-F238E27FC236}">
                <a16:creationId xmlns:a16="http://schemas.microsoft.com/office/drawing/2014/main" id="{AEEB2A20-AC20-464C-ABB5-FE1AF559697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28252" y="2088314"/>
            <a:ext cx="2985423" cy="181415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B0E0310D-BC06-45A0-91EE-F18CBFD627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56372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291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6350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016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0090D03-6616-43B0-9ED5-58F40ABE2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1722235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6658538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9333261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7121-ED30-F5C1-41A3-94922DCC8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2BFA5-76D8-CBB5-7BF0-A04CFCEA2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C070-C23E-330C-E17C-3B2FD79D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09BF4-C9E9-42E6-87EC-AEC94FF4A724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F447-770B-8AC9-0906-6A0AFC23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3600-1C2D-22B4-FAAA-8D3C3506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01E6-9EC9-469F-89B1-A1B0751082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280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7AA5D-1C33-A558-D52F-81822FB1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83B6A-B64E-FD73-113F-0691E3DA3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D816E-DA39-E55D-8C2A-F868440CB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BCE3A-EC52-4713-BB1C-4C0F604224CA}" type="datetimeFigureOut">
              <a:rPr lang="en-ID" smtClean="0"/>
              <a:t>04/07/2025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D6583-BF6B-69F3-5160-A52A89FB2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19316-F4F7-1BEF-69D1-792A93D34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7E98-E5F7-4E7B-B7B8-A8A861F9D3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749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96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FC1897-0A54-383F-01A7-27E1842D4FAE}"/>
              </a:ext>
            </a:extLst>
          </p:cNvPr>
          <p:cNvSpPr txBox="1"/>
          <p:nvPr/>
        </p:nvSpPr>
        <p:spPr>
          <a:xfrm>
            <a:off x="1371600" y="1577755"/>
            <a:ext cx="98899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b="1" dirty="0">
                <a:solidFill>
                  <a:srgbClr val="FFC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PROPOSAL TEKNIS DAN KOMERSIL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75E7E-93C3-855A-5EE0-14713B60EE02}"/>
              </a:ext>
            </a:extLst>
          </p:cNvPr>
          <p:cNvSpPr txBox="1"/>
          <p:nvPr/>
        </p:nvSpPr>
        <p:spPr>
          <a:xfrm>
            <a:off x="493526" y="3100220"/>
            <a:ext cx="113123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Pengajuan</a:t>
            </a: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 Kajian /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Standar</a:t>
            </a: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 Teknis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(PERTEK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Pemanfaatan</a:t>
            </a: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 Air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Limbah</a:t>
            </a: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 dan SLO/Surat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Kelayakan</a:t>
            </a: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Operasi</a:t>
            </a: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6875AA-F848-FF93-C88E-041FD0909FC3}"/>
              </a:ext>
            </a:extLst>
          </p:cNvPr>
          <p:cNvCxnSpPr>
            <a:cxnSpLocks/>
          </p:cNvCxnSpPr>
          <p:nvPr/>
        </p:nvCxnSpPr>
        <p:spPr>
          <a:xfrm>
            <a:off x="2818083" y="2542241"/>
            <a:ext cx="6555831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73A030-9CB6-8A90-E9E1-5B226CA765B6}"/>
              </a:ext>
            </a:extLst>
          </p:cNvPr>
          <p:cNvCxnSpPr>
            <a:cxnSpLocks/>
          </p:cNvCxnSpPr>
          <p:nvPr/>
        </p:nvCxnSpPr>
        <p:spPr>
          <a:xfrm>
            <a:off x="4215757" y="4503172"/>
            <a:ext cx="376047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B3227A-47DD-28D8-97B7-6C8B77C1308D}"/>
              </a:ext>
            </a:extLst>
          </p:cNvPr>
          <p:cNvSpPr txBox="1"/>
          <p:nvPr/>
        </p:nvSpPr>
        <p:spPr>
          <a:xfrm>
            <a:off x="767846" y="4650056"/>
            <a:ext cx="10656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PT. </a:t>
            </a:r>
            <a:r>
              <a:rPr lang="en-ID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Alldylas</a:t>
            </a:r>
            <a:r>
              <a:rPr lang="en-ID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 </a:t>
            </a:r>
            <a:r>
              <a:rPr lang="en-ID" sz="2400" b="1" dirty="0" err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Jayatama</a:t>
            </a:r>
            <a:r>
              <a:rPr lang="en-ID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 Perkasa</a:t>
            </a:r>
            <a:endParaRPr lang="en-US" sz="24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57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9">
            <a:extLst>
              <a:ext uri="{FF2B5EF4-FFF2-40B4-BE49-F238E27FC236}">
                <a16:creationId xmlns:a16="http://schemas.microsoft.com/office/drawing/2014/main" id="{7D00B9FC-3E81-95A0-D047-318EE233A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53426"/>
            <a:ext cx="51835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方正大黑简体" pitchFamily="2" charset="-122"/>
                <a:ea typeface="方正大黑简体" pitchFamily="2" charset="-122"/>
              </a:rPr>
              <a:t>PENDAHULUAN</a:t>
            </a:r>
            <a:endParaRPr lang="en-US" altLang="zh-CN" sz="3200" b="1" dirty="0">
              <a:latin typeface="方正大黑简体" pitchFamily="2" charset="-122"/>
              <a:ea typeface="方正大黑简体" pitchFamily="2" charset="-122"/>
            </a:endParaRPr>
          </a:p>
        </p:txBody>
      </p:sp>
      <p:sp>
        <p:nvSpPr>
          <p:cNvPr id="13" name="Persegi Panjang 3">
            <a:extLst>
              <a:ext uri="{FF2B5EF4-FFF2-40B4-BE49-F238E27FC236}">
                <a16:creationId xmlns:a16="http://schemas.microsoft.com/office/drawing/2014/main" id="{EE9AF2C0-8965-70D5-1AFD-049BB615BEEA}"/>
              </a:ext>
            </a:extLst>
          </p:cNvPr>
          <p:cNvSpPr/>
          <p:nvPr/>
        </p:nvSpPr>
        <p:spPr>
          <a:xfrm>
            <a:off x="1905000" y="685800"/>
            <a:ext cx="8305800" cy="541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tabLst>
                <a:tab pos="8610600" algn="l"/>
              </a:tabLst>
            </a:pP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Penerbitan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PP No. 22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Tahun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2021 juga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menjadi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dasar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penurunan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Peraturan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Lainnya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salah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satunya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Peraturan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Menteri LHK No 5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Tahun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2021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tentang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Teknis dan SLO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terkait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Pembuangan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dan/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pemanfaatan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Air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Limbah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tabLst>
                <a:tab pos="8610600" algn="l"/>
              </a:tabLst>
            </a:pPr>
            <a:endParaRPr lang="en-US" sz="15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Kewajiban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Pengajuan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Teknis Air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Limbah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diatur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Peraturan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Menteri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Hidup No. 5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Tahun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2021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secara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detail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tercantum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ID" sz="15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71463" indent="-271463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Pasal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3 (1)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Setiap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usaha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dan/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kegiatan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wajib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Amdal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UKL-UPL yang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melakukan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kegiatan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pembuangan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dan/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pemanfaatan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air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limbah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wajib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memiliki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Teknis dan SLO.</a:t>
            </a:r>
          </a:p>
          <a:p>
            <a:pPr algn="just">
              <a:lnSpc>
                <a:spcPct val="150000"/>
              </a:lnSpc>
              <a:tabLst>
                <a:tab pos="8610600" algn="l"/>
              </a:tabLst>
            </a:pPr>
            <a:endParaRPr lang="en-US" sz="15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tabLst>
                <a:tab pos="8610600" algn="l"/>
              </a:tabLst>
            </a:pP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Peraturan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diatas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menjelaskan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bahwa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Perusahaan yang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menghasilkan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air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limbah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wajib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membuat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Standar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Teknis / Kajian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teknis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memastikan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dampak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ditimbulkan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dapat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dikendalikan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tidak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berdampak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significant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terhadap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 </a:t>
            </a:r>
            <a:endParaRPr lang="en-ID" sz="15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34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F2B7B-9E99-367D-FFB7-5DFFE4E1B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F11771AA-7606-B15B-E90E-670C4F62D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53426"/>
            <a:ext cx="51835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方正大黑简体" pitchFamily="2" charset="-122"/>
                <a:ea typeface="方正大黑简体" pitchFamily="2" charset="-122"/>
              </a:rPr>
              <a:t>PENDAHULUAN</a:t>
            </a:r>
            <a:endParaRPr lang="en-US" altLang="zh-CN" sz="3200" b="1" dirty="0">
              <a:latin typeface="方正大黑简体" pitchFamily="2" charset="-122"/>
              <a:ea typeface="方正大黑简体" pitchFamily="2" charset="-122"/>
            </a:endParaRPr>
          </a:p>
        </p:txBody>
      </p:sp>
      <p:sp>
        <p:nvSpPr>
          <p:cNvPr id="3" name="Persegi Panjang 3">
            <a:extLst>
              <a:ext uri="{FF2B5EF4-FFF2-40B4-BE49-F238E27FC236}">
                <a16:creationId xmlns:a16="http://schemas.microsoft.com/office/drawing/2014/main" id="{610C9366-5A1B-CAB3-14B9-D84D8548DA27}"/>
              </a:ext>
            </a:extLst>
          </p:cNvPr>
          <p:cNvSpPr/>
          <p:nvPr/>
        </p:nvSpPr>
        <p:spPr>
          <a:xfrm>
            <a:off x="1828800" y="1254760"/>
            <a:ext cx="8305800" cy="487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Perusahaan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penapisan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kelengkapan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teknis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Kajian Teknis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Teknis yang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diajukan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Kewenangannya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diatur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Peraturan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Menteri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Hidup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No. 5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2021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Pasal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33 (1)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Penanggung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Usaha dan/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wajib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Amdal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mengajukan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permohonan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Teknis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sebagaimana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dimaksud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Pasal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29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huruf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Menteri, </a:t>
            </a:r>
            <a:r>
              <a:rPr lang="en-US" sz="15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gubernur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bupati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5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wali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kota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kewenangan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penerbitan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.”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Begitupun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penanggung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wajib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UKL UPL juga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mengajukan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teknis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Kewenangan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Penerbitan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pasal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33 (2).</a:t>
            </a:r>
            <a:endParaRPr lang="en-ID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D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PT. Sentral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Tehnologi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Managemen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(Sentral Sistem Consulting)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sebagai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provider yang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fokus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terhadap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pengelolaan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menawarkan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jasa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penyusunan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Kajian Teknis /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Standar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Teknis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serta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Pengajuan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Persetujuan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Teknis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Pembuangan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dan/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Pemanfaatan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Air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Limbah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melalui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pelayanan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“</a:t>
            </a:r>
            <a:r>
              <a:rPr lang="en-US" sz="1500" b="1" i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One Stop Service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”,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yaitu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mulai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penyusunan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penyampaian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berkas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Instansi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terkait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D" sz="15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109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03634-1558-DCC8-04D4-919695AE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>
            <a:extLst>
              <a:ext uri="{FF2B5EF4-FFF2-40B4-BE49-F238E27FC236}">
                <a16:creationId xmlns:a16="http://schemas.microsoft.com/office/drawing/2014/main" id="{D7423FE4-AAA4-890B-4A2D-CDE5E62EA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799" y="253426"/>
            <a:ext cx="9220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方正大黑简体" pitchFamily="2" charset="-122"/>
                <a:ea typeface="方正大黑简体" pitchFamily="2" charset="-122"/>
              </a:rPr>
              <a:t>PROSES PENGAJUAN PERSETUJUAN TEKNIS </a:t>
            </a:r>
          </a:p>
          <a:p>
            <a:r>
              <a:rPr lang="en-US" altLang="zh-CN" b="1" dirty="0">
                <a:latin typeface="方正大黑简体" pitchFamily="2" charset="-122"/>
                <a:ea typeface="方正大黑简体" pitchFamily="2" charset="-122"/>
              </a:rPr>
              <a:t>PEMBUANGAN DAN / ATAU PEMANFAATAN AIR LIMBAH</a:t>
            </a: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D07CF651-8232-E0A9-47CF-2183981D2F9F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1091625"/>
            <a:ext cx="7696200" cy="5513038"/>
            <a:chOff x="2804" y="2680"/>
            <a:chExt cx="5296" cy="6301"/>
          </a:xfrm>
        </p:grpSpPr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F9D586AE-73FC-3305-0E2E-8B5BBCE0B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4" y="5176"/>
              <a:ext cx="2304" cy="7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Pengajuan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Persetujuan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Teknis</a:t>
              </a:r>
              <a:endParaRPr lang="en-ID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45EBBE97-6440-E3CD-CDAB-A27A25236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" y="3647"/>
              <a:ext cx="2282" cy="7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Penapisan</a:t>
              </a:r>
              <a:endParaRPr lang="en-ID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10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(Kajian / Standar teknis)</a:t>
              </a:r>
              <a:endParaRPr lang="en-ID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20090D82-E8ED-BA55-EE07-D483D0044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0" y="4622"/>
              <a:ext cx="2282" cy="7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Penyusunan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Dokumen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Kajian Teknis / </a:t>
              </a:r>
            </a:p>
            <a:p>
              <a:pPr algn="ctr">
                <a:lnSpc>
                  <a:spcPct val="150000"/>
                </a:lnSpc>
              </a:pP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Standar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Teknis</a:t>
              </a:r>
              <a:endParaRPr lang="en-ID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AutoShape 20">
              <a:extLst>
                <a:ext uri="{FF2B5EF4-FFF2-40B4-BE49-F238E27FC236}">
                  <a16:creationId xmlns:a16="http://schemas.microsoft.com/office/drawing/2014/main" id="{1C627188-18E6-A2D3-2BE9-B185311FAC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" y="3064"/>
              <a:ext cx="0" cy="52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21">
              <a:extLst>
                <a:ext uri="{FF2B5EF4-FFF2-40B4-BE49-F238E27FC236}">
                  <a16:creationId xmlns:a16="http://schemas.microsoft.com/office/drawing/2014/main" id="{CF3169E4-CE19-D5DB-308A-19ADBD0450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" y="4004"/>
              <a:ext cx="29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22">
              <a:extLst>
                <a:ext uri="{FF2B5EF4-FFF2-40B4-BE49-F238E27FC236}">
                  <a16:creationId xmlns:a16="http://schemas.microsoft.com/office/drawing/2014/main" id="{1294F2DE-991C-4BEE-EF1B-225770183D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" y="4982"/>
              <a:ext cx="29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23">
              <a:extLst>
                <a:ext uri="{FF2B5EF4-FFF2-40B4-BE49-F238E27FC236}">
                  <a16:creationId xmlns:a16="http://schemas.microsoft.com/office/drawing/2014/main" id="{36E452DE-749F-EEF3-E578-B3565BAF35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" y="6127"/>
              <a:ext cx="29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24">
              <a:extLst>
                <a:ext uri="{FF2B5EF4-FFF2-40B4-BE49-F238E27FC236}">
                  <a16:creationId xmlns:a16="http://schemas.microsoft.com/office/drawing/2014/main" id="{EC43AA0D-19DC-6799-2268-1E049FA2C5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" y="7238"/>
              <a:ext cx="29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25">
              <a:extLst>
                <a:ext uri="{FF2B5EF4-FFF2-40B4-BE49-F238E27FC236}">
                  <a16:creationId xmlns:a16="http://schemas.microsoft.com/office/drawing/2014/main" id="{447E50E6-2888-6DB7-EDE5-748C5E30A8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08" y="5550"/>
              <a:ext cx="38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27">
              <a:extLst>
                <a:ext uri="{FF2B5EF4-FFF2-40B4-BE49-F238E27FC236}">
                  <a16:creationId xmlns:a16="http://schemas.microsoft.com/office/drawing/2014/main" id="{A5178B7A-EB42-A661-C24F-D37BA14C72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52" y="4380"/>
              <a:ext cx="0" cy="2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0501E58F-526D-576A-F7B5-C2C179735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" y="2680"/>
              <a:ext cx="2282" cy="7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Studi Awal Proses Kegiatan</a:t>
              </a:r>
              <a:endParaRPr lang="en-ID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AutoShape 30">
              <a:extLst>
                <a:ext uri="{FF2B5EF4-FFF2-40B4-BE49-F238E27FC236}">
                  <a16:creationId xmlns:a16="http://schemas.microsoft.com/office/drawing/2014/main" id="{C5CAC49D-4652-15EC-9C67-0D51526A61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" y="3064"/>
              <a:ext cx="29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181B4917-F5D0-5815-783F-463872333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" y="5588"/>
              <a:ext cx="2282" cy="9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Pengajuan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Berkas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endParaRPr lang="en-ID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PTSP KLHK /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Provinsi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/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Kab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. / Kota</a:t>
              </a:r>
            </a:p>
            <a:p>
              <a:pPr algn="ctr">
                <a:lnSpc>
                  <a:spcPct val="150000"/>
                </a:lnSpc>
              </a:pP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Tergantung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Kewenangan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)</a:t>
              </a:r>
              <a:endParaRPr lang="en-ID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32">
              <a:extLst>
                <a:ext uri="{FF2B5EF4-FFF2-40B4-BE49-F238E27FC236}">
                  <a16:creationId xmlns:a16="http://schemas.microsoft.com/office/drawing/2014/main" id="{0199C578-E6E9-0BDE-B6CF-AC49D1371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9" y="6901"/>
              <a:ext cx="2282" cy="7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Perbaikan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Dokumen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(</a:t>
              </a: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jika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ada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) &amp; </a:t>
              </a:r>
            </a:p>
            <a:p>
              <a:pPr algn="ctr">
                <a:lnSpc>
                  <a:spcPct val="150000"/>
                </a:lnSpc>
              </a:pPr>
              <a:r>
                <a:rPr lang="en-US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Rapat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Teknis </a:t>
              </a:r>
              <a:endParaRPr lang="en-ID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AutoShape 33">
              <a:extLst>
                <a:ext uri="{FF2B5EF4-FFF2-40B4-BE49-F238E27FC236}">
                  <a16:creationId xmlns:a16="http://schemas.microsoft.com/office/drawing/2014/main" id="{9F2AA1BE-0CA5-3DE8-1400-710F3CE585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" y="8287"/>
              <a:ext cx="29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35">
              <a:extLst>
                <a:ext uri="{FF2B5EF4-FFF2-40B4-BE49-F238E27FC236}">
                  <a16:creationId xmlns:a16="http://schemas.microsoft.com/office/drawing/2014/main" id="{C9BADA03-61F1-34DD-6D94-43B9FEC6B2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5" y="5305"/>
              <a:ext cx="0" cy="3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6">
              <a:extLst>
                <a:ext uri="{FF2B5EF4-FFF2-40B4-BE49-F238E27FC236}">
                  <a16:creationId xmlns:a16="http://schemas.microsoft.com/office/drawing/2014/main" id="{5F57D1B4-E9ED-C60C-DE63-8B4F1833DF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0" y="6585"/>
              <a:ext cx="0" cy="2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39">
              <a:extLst>
                <a:ext uri="{FF2B5EF4-FFF2-40B4-BE49-F238E27FC236}">
                  <a16:creationId xmlns:a16="http://schemas.microsoft.com/office/drawing/2014/main" id="{4E00F6BD-1D30-F246-EF00-904D72829B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9" y="7636"/>
              <a:ext cx="0" cy="2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40">
              <a:extLst>
                <a:ext uri="{FF2B5EF4-FFF2-40B4-BE49-F238E27FC236}">
                  <a16:creationId xmlns:a16="http://schemas.microsoft.com/office/drawing/2014/main" id="{514725F0-5137-38B3-8F14-3A6069C968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29" y="3409"/>
              <a:ext cx="1" cy="2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41">
              <a:extLst>
                <a:ext uri="{FF2B5EF4-FFF2-40B4-BE49-F238E27FC236}">
                  <a16:creationId xmlns:a16="http://schemas.microsoft.com/office/drawing/2014/main" id="{6EF76C82-D656-1971-E618-CF222C84F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8" y="8002"/>
              <a:ext cx="2282" cy="9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Penerbitan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Persetujuan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Teknis &amp; SLO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dari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>
                <a:lnSpc>
                  <a:spcPct val="150000"/>
                </a:lnSpc>
              </a:pP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KLHK /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Provinsi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/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Kab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. / Kota</a:t>
              </a:r>
            </a:p>
            <a:p>
              <a:pPr algn="ctr">
                <a:lnSpc>
                  <a:spcPct val="150000"/>
                </a:lnSpc>
              </a:pP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Tergantung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ID" sz="11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Kewenangan</a:t>
              </a:r>
              <a:r>
                <a:rPr lang="en-ID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)</a:t>
              </a:r>
              <a:endParaRPr lang="en-ID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endParaRPr lang="en-ID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764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064E1-A222-31B3-D1D8-DAEFF626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D2AFEFE-2FF1-3A9A-BF23-7D492B0A0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608424"/>
              </p:ext>
            </p:extLst>
          </p:nvPr>
        </p:nvGraphicFramePr>
        <p:xfrm>
          <a:off x="1783180" y="1207800"/>
          <a:ext cx="8625641" cy="48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75">
                  <a:extLst>
                    <a:ext uri="{9D8B030D-6E8A-4147-A177-3AD203B41FA5}">
                      <a16:colId xmlns:a16="http://schemas.microsoft.com/office/drawing/2014/main" val="3702791199"/>
                    </a:ext>
                  </a:extLst>
                </a:gridCol>
                <a:gridCol w="2793105">
                  <a:extLst>
                    <a:ext uri="{9D8B030D-6E8A-4147-A177-3AD203B41FA5}">
                      <a16:colId xmlns:a16="http://schemas.microsoft.com/office/drawing/2014/main" val="3611466531"/>
                    </a:ext>
                  </a:extLst>
                </a:gridCol>
                <a:gridCol w="2709356">
                  <a:extLst>
                    <a:ext uri="{9D8B030D-6E8A-4147-A177-3AD203B41FA5}">
                      <a16:colId xmlns:a16="http://schemas.microsoft.com/office/drawing/2014/main" val="3106312376"/>
                    </a:ext>
                  </a:extLst>
                </a:gridCol>
                <a:gridCol w="2507705">
                  <a:extLst>
                    <a:ext uri="{9D8B030D-6E8A-4147-A177-3AD203B41FA5}">
                      <a16:colId xmlns:a16="http://schemas.microsoft.com/office/drawing/2014/main" val="230572085"/>
                    </a:ext>
                  </a:extLst>
                </a:gridCol>
              </a:tblGrid>
              <a:tr h="328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Aktivitas</a:t>
                      </a:r>
                      <a:r>
                        <a:rPr lang="en-US" sz="1800" dirty="0"/>
                        <a:t>  / </a:t>
                      </a:r>
                      <a:r>
                        <a:rPr lang="en-US" sz="1800" dirty="0" err="1"/>
                        <a:t>Kegiatan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Metode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Kerja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758241"/>
                  </a:ext>
                </a:extLst>
              </a:tr>
              <a:tr h="178585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i="0" dirty="0" err="1"/>
                        <a:t>Penyusunan</a:t>
                      </a:r>
                      <a:r>
                        <a:rPr lang="en-US" sz="1700" b="1" i="0" dirty="0"/>
                        <a:t> </a:t>
                      </a:r>
                      <a:r>
                        <a:rPr lang="en-US" sz="1700" b="1" i="0" dirty="0" err="1"/>
                        <a:t>Standar</a:t>
                      </a:r>
                      <a:r>
                        <a:rPr lang="en-US" sz="1700" b="1" i="0" dirty="0"/>
                        <a:t> Teknis / Kajian Teknis </a:t>
                      </a:r>
                      <a:r>
                        <a:rPr lang="en-US" sz="1700" b="1" i="0" dirty="0" err="1"/>
                        <a:t>Pemanfaatan</a:t>
                      </a:r>
                      <a:r>
                        <a:rPr lang="en-US" sz="1700" b="1" i="0" dirty="0"/>
                        <a:t> Air </a:t>
                      </a:r>
                      <a:r>
                        <a:rPr lang="en-US" sz="1700" b="1" i="0" dirty="0" err="1"/>
                        <a:t>Limbah</a:t>
                      </a:r>
                      <a:endParaRPr lang="en-US" sz="1700" b="1" i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8137" marR="0" indent="-28575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Interview proses </a:t>
                      </a:r>
                      <a:r>
                        <a:rPr lang="en-US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pengolahan</a:t>
                      </a: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air </a:t>
                      </a:r>
                      <a:r>
                        <a:rPr lang="en-US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limbah</a:t>
                      </a: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dihasilkan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38137" marR="0" indent="-285750" algn="just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Pengambilan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Data &amp; Analisa Data</a:t>
                      </a:r>
                    </a:p>
                    <a:p>
                      <a:pPr marL="338137" marR="0" indent="-285750" algn="just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Pengambilan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sampel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air (badan air)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Dokumen</a:t>
                      </a:r>
                      <a:r>
                        <a:rPr lang="en-US" sz="17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US" sz="17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Teknis /Kajian Teknis </a:t>
                      </a:r>
                      <a:r>
                        <a:rPr lang="en-US" sz="17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Pemanfaatan</a:t>
                      </a:r>
                      <a:r>
                        <a:rPr lang="en-US" sz="17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Air </a:t>
                      </a:r>
                      <a:r>
                        <a:rPr lang="en-US" sz="17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Limbah</a:t>
                      </a:r>
                      <a:endParaRPr lang="en-US" sz="170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302140"/>
                  </a:ext>
                </a:extLst>
              </a:tr>
              <a:tr h="122883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700" b="1" i="0" dirty="0" err="1"/>
                        <a:t>Pengajuan</a:t>
                      </a:r>
                      <a:r>
                        <a:rPr lang="en-US" sz="1700" b="1" i="0" dirty="0"/>
                        <a:t> </a:t>
                      </a:r>
                      <a:r>
                        <a:rPr lang="en-US" sz="1700" b="1" i="0" dirty="0" err="1"/>
                        <a:t>Persetujuan</a:t>
                      </a:r>
                      <a:r>
                        <a:rPr lang="en-US" sz="1700" b="1" i="0" dirty="0"/>
                        <a:t> Teknis </a:t>
                      </a:r>
                      <a:r>
                        <a:rPr lang="en-US" sz="1700" b="1" i="0" dirty="0" err="1"/>
                        <a:t>ke</a:t>
                      </a:r>
                      <a:r>
                        <a:rPr lang="en-US" sz="1700" b="1" i="0" dirty="0"/>
                        <a:t> KLHK / DLH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8137" marR="0" indent="-285750" algn="just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Pengajuan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Persetujuan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Teknis </a:t>
                      </a: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melalui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Aplikasi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PTSP KLHK / DLH</a:t>
                      </a:r>
                    </a:p>
                    <a:p>
                      <a:pPr marL="338137" marR="0" indent="-285750" algn="just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Sidang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Rapat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Teknis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Persetujuan</a:t>
                      </a:r>
                      <a:r>
                        <a:rPr lang="en-US" sz="17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Teknis </a:t>
                      </a:r>
                      <a:r>
                        <a:rPr lang="en-US" sz="17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Pemanfaatan</a:t>
                      </a:r>
                      <a:r>
                        <a:rPr lang="en-US" sz="17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Air </a:t>
                      </a:r>
                      <a:r>
                        <a:rPr lang="en-US" sz="17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Limbah</a:t>
                      </a:r>
                      <a:endParaRPr lang="en-US" sz="170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944470"/>
                  </a:ext>
                </a:extLst>
              </a:tr>
              <a:tr h="122883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700" b="1" i="0" dirty="0" err="1"/>
                        <a:t>Pengajuan</a:t>
                      </a:r>
                      <a:r>
                        <a:rPr lang="en-US" sz="1700" b="1" i="0" dirty="0"/>
                        <a:t> SLO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8137" marR="0" indent="-285750" algn="just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Verifikasi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lapangan</a:t>
                      </a:r>
                      <a:endParaRPr lang="en-GB" sz="16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38137" marR="0" lvl="0" indent="-285750" algn="just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Sidang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GB" sz="16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Rapat</a:t>
                      </a:r>
                      <a:r>
                        <a:rPr lang="en-GB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Teknis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39354"/>
                  </a:ext>
                </a:extLst>
              </a:tr>
            </a:tbl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7C47AEFA-401C-5005-59C0-AA0C7F8E2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102" y="286325"/>
            <a:ext cx="75044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方正大黑简体" pitchFamily="2" charset="-122"/>
                <a:ea typeface="方正大黑简体" pitchFamily="2" charset="-122"/>
              </a:rPr>
              <a:t>PELAKSANAAN KEGIATAN PENGAJUAN PERTEK PEMANFAATAN AIR LIMBAH</a:t>
            </a:r>
          </a:p>
        </p:txBody>
      </p:sp>
    </p:spTree>
    <p:extLst>
      <p:ext uri="{BB962C8B-B14F-4D97-AF65-F5344CB8AC3E}">
        <p14:creationId xmlns:p14="http://schemas.microsoft.com/office/powerpoint/2010/main" val="353536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E9E81-7F67-035D-9FAC-CD203510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>
            <a:extLst>
              <a:ext uri="{FF2B5EF4-FFF2-40B4-BE49-F238E27FC236}">
                <a16:creationId xmlns:a16="http://schemas.microsoft.com/office/drawing/2014/main" id="{4C9CF729-F9C1-9D20-1275-6A5B33060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102" y="286325"/>
            <a:ext cx="79007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方正大黑简体" pitchFamily="2" charset="-122"/>
                <a:ea typeface="方正大黑简体" pitchFamily="2" charset="-122"/>
              </a:rPr>
              <a:t>TIMELINE PELAKSANAAN KEGIATAN </a:t>
            </a:r>
          </a:p>
          <a:p>
            <a:r>
              <a:rPr lang="en-US" altLang="zh-CN" sz="2400" b="1" dirty="0">
                <a:latin typeface="方正大黑简体" pitchFamily="2" charset="-122"/>
                <a:ea typeface="方正大黑简体" pitchFamily="2" charset="-122"/>
              </a:rPr>
              <a:t>PENGAJUAN PERTEK PEMANFAATAN AIR LIMBAH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4A661-3008-FE98-6712-5EBF12B37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1441450"/>
            <a:ext cx="102997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2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E98A4-A945-688C-B150-B9B296D3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E42DB2-13BE-346A-627A-D410CD68F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683120"/>
              </p:ext>
            </p:extLst>
          </p:nvPr>
        </p:nvGraphicFramePr>
        <p:xfrm>
          <a:off x="1841074" y="1075731"/>
          <a:ext cx="8509850" cy="3961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592">
                  <a:extLst>
                    <a:ext uri="{9D8B030D-6E8A-4147-A177-3AD203B41FA5}">
                      <a16:colId xmlns:a16="http://schemas.microsoft.com/office/drawing/2014/main" val="661701800"/>
                    </a:ext>
                  </a:extLst>
                </a:gridCol>
                <a:gridCol w="2420058">
                  <a:extLst>
                    <a:ext uri="{9D8B030D-6E8A-4147-A177-3AD203B41FA5}">
                      <a16:colId xmlns:a16="http://schemas.microsoft.com/office/drawing/2014/main" val="32151290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080924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92102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18728760"/>
                    </a:ext>
                  </a:extLst>
                </a:gridCol>
                <a:gridCol w="906649">
                  <a:extLst>
                    <a:ext uri="{9D8B030D-6E8A-4147-A177-3AD203B41FA5}">
                      <a16:colId xmlns:a16="http://schemas.microsoft.com/office/drawing/2014/main" val="336534392"/>
                    </a:ext>
                  </a:extLst>
                </a:gridCol>
                <a:gridCol w="574214">
                  <a:extLst>
                    <a:ext uri="{9D8B030D-6E8A-4147-A177-3AD203B41FA5}">
                      <a16:colId xmlns:a16="http://schemas.microsoft.com/office/drawing/2014/main" val="3190762856"/>
                    </a:ext>
                  </a:extLst>
                </a:gridCol>
                <a:gridCol w="588813">
                  <a:extLst>
                    <a:ext uri="{9D8B030D-6E8A-4147-A177-3AD203B41FA5}">
                      <a16:colId xmlns:a16="http://schemas.microsoft.com/office/drawing/2014/main" val="2674287077"/>
                    </a:ext>
                  </a:extLst>
                </a:gridCol>
                <a:gridCol w="1283124">
                  <a:extLst>
                    <a:ext uri="{9D8B030D-6E8A-4147-A177-3AD203B41FA5}">
                      <a16:colId xmlns:a16="http://schemas.microsoft.com/office/drawing/2014/main" val="1018103954"/>
                    </a:ext>
                  </a:extLst>
                </a:gridCol>
              </a:tblGrid>
              <a:tr h="4373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QTY</a:t>
                      </a:r>
                      <a:br>
                        <a:rPr lang="en-US" sz="1200" b="1" u="none" strike="noStrike" dirty="0">
                          <a:effectLst/>
                        </a:rPr>
                      </a:br>
                      <a:r>
                        <a:rPr lang="en-US" sz="1200" b="1" u="none" strike="noStrike" dirty="0">
                          <a:effectLst/>
                        </a:rPr>
                        <a:t>(max)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Unit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</a:rPr>
                        <a:t>Rate/Qty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Unit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</a:rPr>
                        <a:t>Periode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Unit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TOTAL  (IDR)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453073"/>
                  </a:ext>
                </a:extLst>
              </a:tr>
              <a:tr h="871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I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BIAYA LANGSUNG PERSONIL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919565921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Environment Consultant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Orang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2.500.000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Orang/</a:t>
                      </a:r>
                      <a:r>
                        <a:rPr lang="en-US" sz="1200" u="none" strike="noStrike" dirty="0" err="1">
                          <a:effectLst/>
                        </a:rPr>
                        <a:t>bulan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bulan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 70.000.000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122627620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Drafter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Orang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  3.000.000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Orang/</a:t>
                      </a:r>
                      <a:r>
                        <a:rPr lang="en-US" sz="1200" u="none" strike="noStrike" dirty="0" err="1">
                          <a:effectLst/>
                        </a:rPr>
                        <a:t>bulan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bulan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   9.000.000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895954793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379670875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</a:rPr>
                        <a:t>II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BIAYA LANGSUNG NON PERSONIL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104497500"/>
                  </a:ext>
                </a:extLst>
              </a:tr>
              <a:tr h="769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BIAYA MOBILISASI DAN DEMOBILISASI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orang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Rp. -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Paket</a:t>
                      </a: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Paket</a:t>
                      </a: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Rp. -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023652463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OFFICE DAN OPERATIONAL EXPENSES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772235168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Office Consumable (ATK)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Pax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Rp           500.000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Paket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Paket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     500.000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933203086"/>
                  </a:ext>
                </a:extLst>
              </a:tr>
              <a:tr h="3917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Communication </a:t>
                      </a:r>
                    </a:p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(Internet, </a:t>
                      </a:r>
                      <a:r>
                        <a:rPr lang="en-US" sz="1200" u="none" strike="noStrike" dirty="0" err="1">
                          <a:effectLst/>
                        </a:rPr>
                        <a:t>telepon</a:t>
                      </a:r>
                      <a:r>
                        <a:rPr lang="en-US" sz="1200" u="none" strike="noStrike" dirty="0">
                          <a:effectLst/>
                        </a:rPr>
                        <a:t>, Fax)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Orang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Rp           600.000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Paket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Paket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  2.400.000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889116131"/>
                  </a:ext>
                </a:extLst>
              </a:tr>
              <a:tr h="249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Biaya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pengurusan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pengajuan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serta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rapat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teknis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Pertek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SLO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Paket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Rp        63.000.000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Paket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Paket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63.000.000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382661458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762293942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</a:rPr>
                        <a:t>C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REPORT PRODUCTION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607568853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Soft-file Laporan Akhir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FD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Rp           100.000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Flashdisk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Unit</a:t>
                      </a: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 Rp           100.000 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953041228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994926351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 gridSpan="7">
                  <a:txBody>
                    <a:bodyPr/>
                    <a:lstStyle/>
                    <a:p>
                      <a:pPr algn="r" fontAlgn="ctr"/>
                      <a:r>
                        <a:rPr lang="en-US" sz="1200" b="1" u="none" strike="noStrike" dirty="0">
                          <a:effectLst/>
                        </a:rPr>
                        <a:t>TOTAL: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 Rp   145.000.000 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81822955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 gridSpan="8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effectLst/>
                        </a:rPr>
                        <a:t>                                                                                                      TOTAL PENAWARAN:  SERATUS EMPAT PULUH LIMA RIBU RUPIAH     </a:t>
                      </a:r>
                      <a:endParaRPr lang="en-US" sz="1200" b="1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17" marR="5417" marT="5417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409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6DBCF20-BFF5-DC77-E36D-5CBE0FA009BD}"/>
              </a:ext>
            </a:extLst>
          </p:cNvPr>
          <p:cNvSpPr txBox="1"/>
          <p:nvPr/>
        </p:nvSpPr>
        <p:spPr>
          <a:xfrm>
            <a:off x="1752600" y="5352872"/>
            <a:ext cx="85098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 : 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PPN 11 %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ditanggung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oleh </a:t>
            </a:r>
            <a:r>
              <a:rPr lang="en-US" sz="1200" b="1" dirty="0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PT. </a:t>
            </a:r>
            <a:r>
              <a:rPr lang="en-ID" sz="1200" b="1" dirty="0" err="1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Alldylas</a:t>
            </a:r>
            <a:r>
              <a:rPr lang="en-ID" sz="1200" b="1" dirty="0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Jayatama</a:t>
            </a:r>
            <a:r>
              <a:rPr lang="en-ID" sz="1200" b="1" dirty="0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 Perkasa 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yang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akan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dibayarkan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cs typeface="Times New Roman" panose="02020603050405020304" pitchFamily="18" charset="0"/>
              </a:rPr>
              <a:t>k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PT. </a:t>
            </a:r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SENTRAL TEHNOLOGI MANAGEMEN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disetorkan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pajak</a:t>
            </a:r>
            <a:r>
              <a:rPr lang="en-GB" sz="1200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oleh  </a:t>
            </a:r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PT. </a:t>
            </a:r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SENTRAL TEHNOLOGI MANAGEMEN</a:t>
            </a:r>
          </a:p>
          <a:p>
            <a:endParaRPr lang="en-US" sz="1200" b="1" dirty="0">
              <a:solidFill>
                <a:srgbClr val="000000"/>
              </a:solidFill>
              <a:latin typeface="Corbel" panose="020B0503020204020204" pitchFamily="34" charset="0"/>
              <a:cs typeface="Arial" panose="020B0604020202020204" pitchFamily="34" charset="0"/>
            </a:endParaRPr>
          </a:p>
          <a:p>
            <a:r>
              <a:rPr lang="en-US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Penawaran</a:t>
            </a:r>
            <a:r>
              <a:rPr lang="en-US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yang </a:t>
            </a:r>
            <a:r>
              <a:rPr lang="en-US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tercantum</a:t>
            </a:r>
            <a:r>
              <a:rPr lang="en-US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dalam</a:t>
            </a:r>
            <a:r>
              <a:rPr lang="en-US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BQ </a:t>
            </a:r>
            <a:r>
              <a:rPr lang="en-US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tidak</a:t>
            </a:r>
            <a:r>
              <a:rPr lang="en-US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termasuk</a:t>
            </a:r>
            <a:r>
              <a:rPr lang="en-US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Biaya</a:t>
            </a:r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Laboratorium</a:t>
            </a:r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pengujian</a:t>
            </a:r>
            <a:r>
              <a:rPr lang="en-GB" sz="1200" b="1" dirty="0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lingkungan</a:t>
            </a:r>
            <a:endParaRPr lang="en-GB" sz="1200" b="1" dirty="0">
              <a:solidFill>
                <a:srgbClr val="000000"/>
              </a:solidFill>
              <a:latin typeface="Corbel" panose="020B05030202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7450A-4224-012F-F5B6-7D6F52551B84}"/>
              </a:ext>
            </a:extLst>
          </p:cNvPr>
          <p:cNvSpPr txBox="1"/>
          <p:nvPr/>
        </p:nvSpPr>
        <p:spPr>
          <a:xfrm>
            <a:off x="3657600" y="1524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BILL OF QUANTITY (BQ)</a:t>
            </a:r>
          </a:p>
          <a:p>
            <a:pPr algn="ctr"/>
            <a:r>
              <a:rPr lang="en-US" b="1" dirty="0"/>
              <a:t>PEKERJAAN JASA KONSULTAN</a:t>
            </a:r>
          </a:p>
        </p:txBody>
      </p:sp>
    </p:spTree>
    <p:extLst>
      <p:ext uri="{BB962C8B-B14F-4D97-AF65-F5344CB8AC3E}">
        <p14:creationId xmlns:p14="http://schemas.microsoft.com/office/powerpoint/2010/main" val="3748770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A8B0D5-95D2-4CD1-9843-BFFC7674470A}"/>
              </a:ext>
            </a:extLst>
          </p:cNvPr>
          <p:cNvSpPr txBox="1"/>
          <p:nvPr/>
        </p:nvSpPr>
        <p:spPr>
          <a:xfrm>
            <a:off x="2209800" y="1219201"/>
            <a:ext cx="8001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charset="0"/>
              <a:buNone/>
              <a:defRPr/>
            </a:pPr>
            <a:r>
              <a:rPr lang="es-ES" sz="1600" b="1" dirty="0">
                <a:latin typeface="Candara" pitchFamily="34" charset="0"/>
              </a:rPr>
              <a:t>SENTRAL SISTEM CONSULTING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id-ID" sz="1600" b="1" dirty="0">
                <a:latin typeface="Candara" pitchFamily="34" charset="0"/>
              </a:rPr>
              <a:t>(PT. SENTRAL TEHNOLOGI MANAGEMEN)</a:t>
            </a:r>
            <a:r>
              <a:rPr lang="id-ID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bersedia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mengadakan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kerjasama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lebih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lanjut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mengenai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masalah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technical</a:t>
            </a:r>
            <a:r>
              <a:rPr lang="es-ES" sz="1600" dirty="0">
                <a:latin typeface="Candara" pitchFamily="34" charset="0"/>
              </a:rPr>
              <a:t> dan </a:t>
            </a:r>
            <a:r>
              <a:rPr lang="es-ES" sz="1600" dirty="0" err="1">
                <a:latin typeface="Candara" pitchFamily="34" charset="0"/>
              </a:rPr>
              <a:t>commercial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sehubungan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dengan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proposal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ini</a:t>
            </a:r>
            <a:r>
              <a:rPr lang="es-ES" sz="1600" dirty="0">
                <a:latin typeface="Candara" pitchFamily="34" charset="0"/>
              </a:rPr>
              <a:t>. </a:t>
            </a:r>
            <a:endParaRPr lang="id-ID" sz="1600" dirty="0">
              <a:latin typeface="Candara" pitchFamily="34" charset="0"/>
            </a:endParaRPr>
          </a:p>
          <a:p>
            <a:pPr algn="just">
              <a:buFont typeface="Arial" charset="0"/>
              <a:buNone/>
              <a:defRPr/>
            </a:pPr>
            <a:endParaRPr lang="id-ID" sz="1600" dirty="0">
              <a:latin typeface="Candara" pitchFamily="34" charset="0"/>
            </a:endParaRPr>
          </a:p>
          <a:p>
            <a:pPr algn="just">
              <a:defRPr/>
            </a:pPr>
            <a:r>
              <a:rPr lang="es-ES" sz="1600" dirty="0" err="1">
                <a:latin typeface="Candara" pitchFamily="34" charset="0"/>
              </a:rPr>
              <a:t>Jika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Pihak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n-US" sz="1600" b="1" dirty="0">
                <a:latin typeface="Candara" pitchFamily="34" charset="0"/>
              </a:rPr>
              <a:t>PT. </a:t>
            </a:r>
            <a:r>
              <a:rPr lang="en-ID" sz="1600" b="1" dirty="0" err="1">
                <a:latin typeface="Candara" pitchFamily="34" charset="0"/>
              </a:rPr>
              <a:t>Alldylas</a:t>
            </a:r>
            <a:r>
              <a:rPr lang="en-ID" sz="1600" b="1" dirty="0">
                <a:latin typeface="Candara" pitchFamily="34" charset="0"/>
              </a:rPr>
              <a:t> </a:t>
            </a:r>
            <a:r>
              <a:rPr lang="en-ID" sz="1600" b="1" dirty="0" err="1">
                <a:latin typeface="Candara" pitchFamily="34" charset="0"/>
              </a:rPr>
              <a:t>Jayatama</a:t>
            </a:r>
            <a:r>
              <a:rPr lang="en-ID" sz="1600" b="1" dirty="0">
                <a:latin typeface="Candara" pitchFamily="34" charset="0"/>
              </a:rPr>
              <a:t> Perkasa </a:t>
            </a:r>
            <a:r>
              <a:rPr lang="es-ES" sz="1600" dirty="0" err="1">
                <a:latin typeface="Candara" pitchFamily="34" charset="0"/>
              </a:rPr>
              <a:t>setuju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dengan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penawaran</a:t>
            </a:r>
            <a:r>
              <a:rPr lang="en-US" sz="1600" dirty="0">
                <a:latin typeface="Candara" pitchFamily="34" charset="0"/>
              </a:rPr>
              <a:t> </a:t>
            </a:r>
            <a:r>
              <a:rPr lang="es-ES" sz="1600" b="1" dirty="0" err="1">
                <a:latin typeface="Candara" pitchFamily="34" charset="0"/>
              </a:rPr>
              <a:t>Tanggal</a:t>
            </a:r>
            <a:r>
              <a:rPr lang="es-ES" sz="1600" b="1" dirty="0">
                <a:latin typeface="Candara" pitchFamily="34" charset="0"/>
              </a:rPr>
              <a:t> </a:t>
            </a:r>
            <a:r>
              <a:rPr lang="en-US" sz="1600" b="1" dirty="0">
                <a:latin typeface="Candara" pitchFamily="34" charset="0"/>
              </a:rPr>
              <a:t>…………………..</a:t>
            </a:r>
            <a:r>
              <a:rPr lang="es-ES" sz="1600" dirty="0">
                <a:latin typeface="Candara" pitchFamily="34" charset="0"/>
              </a:rPr>
              <a:t>,</a:t>
            </a:r>
            <a:r>
              <a:rPr lang="id-ID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silahkan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id-ID" sz="1600" dirty="0">
                <a:latin typeface="Candara" pitchFamily="34" charset="0"/>
              </a:rPr>
              <a:t>Bapak/</a:t>
            </a:r>
            <a:r>
              <a:rPr lang="es-ES" sz="1600" dirty="0" err="1">
                <a:latin typeface="Candara" pitchFamily="34" charset="0"/>
              </a:rPr>
              <a:t>Ibu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menandatangani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persetujuan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ini</a:t>
            </a:r>
            <a:r>
              <a:rPr lang="es-ES" sz="1600" dirty="0">
                <a:latin typeface="Candara" pitchFamily="34" charset="0"/>
              </a:rPr>
              <a:t> dan </a:t>
            </a:r>
            <a:r>
              <a:rPr lang="es-ES" sz="1600" dirty="0" err="1">
                <a:latin typeface="Candara" pitchFamily="34" charset="0"/>
              </a:rPr>
              <a:t>mengembalikannya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kepada</a:t>
            </a:r>
            <a:r>
              <a:rPr lang="es-ES" sz="1600" dirty="0">
                <a:latin typeface="Candara" pitchFamily="34" charset="0"/>
              </a:rPr>
              <a:t> </a:t>
            </a:r>
            <a:r>
              <a:rPr lang="es-ES" sz="1600" dirty="0" err="1">
                <a:latin typeface="Candara" pitchFamily="34" charset="0"/>
              </a:rPr>
              <a:t>kami</a:t>
            </a:r>
            <a:r>
              <a:rPr lang="es-ES" sz="1600" dirty="0">
                <a:latin typeface="Candara" pitchFamily="34" charset="0"/>
              </a:rPr>
              <a:t>. </a:t>
            </a:r>
            <a:r>
              <a:rPr lang="id-ID" sz="1600" dirty="0">
                <a:latin typeface="Candara" pitchFamily="34" charset="0"/>
              </a:rPr>
              <a:t>Kami akan mengirimkan perjanjian kontrak yang akan ditandatangani bersama. </a:t>
            </a:r>
          </a:p>
          <a:p>
            <a:pPr>
              <a:defRPr/>
            </a:pPr>
            <a:r>
              <a:rPr lang="id-ID" sz="1600" dirty="0">
                <a:latin typeface="Candara" pitchFamily="34" charset="0"/>
              </a:rPr>
              <a:t> </a:t>
            </a:r>
          </a:p>
          <a:p>
            <a:pPr>
              <a:defRPr/>
            </a:pPr>
            <a:r>
              <a:rPr lang="id-ID" sz="1600" b="1" dirty="0">
                <a:latin typeface="Candara" pitchFamily="34" charset="0"/>
              </a:rPr>
              <a:t>Jakarta, </a:t>
            </a:r>
            <a:r>
              <a:rPr lang="en-US" sz="1600" b="1" dirty="0">
                <a:latin typeface="Candara" pitchFamily="34" charset="0"/>
              </a:rPr>
              <a:t>12 Juni 2025</a:t>
            </a:r>
            <a:r>
              <a:rPr lang="id-ID" sz="1600" b="1" dirty="0">
                <a:latin typeface="Candara" pitchFamily="34" charset="0"/>
              </a:rPr>
              <a:t>	</a:t>
            </a:r>
            <a:r>
              <a:rPr lang="en-US" sz="1600" b="1" dirty="0">
                <a:latin typeface="Candara" pitchFamily="34" charset="0"/>
              </a:rPr>
              <a:t>                                             Bogor, ……………………..</a:t>
            </a:r>
            <a:r>
              <a:rPr lang="id-ID" sz="1600" b="1" dirty="0">
                <a:latin typeface="Candara" pitchFamily="34" charset="0"/>
              </a:rPr>
              <a:t>					 </a:t>
            </a:r>
            <a:endParaRPr lang="id-ID" sz="1600" dirty="0">
              <a:latin typeface="Candara" pitchFamily="34" charset="0"/>
            </a:endParaRPr>
          </a:p>
          <a:p>
            <a:pPr>
              <a:defRPr/>
            </a:pPr>
            <a:r>
              <a:rPr lang="id-ID" sz="1600" dirty="0">
                <a:latin typeface="Candara" pitchFamily="34" charset="0"/>
              </a:rPr>
              <a:t>  </a:t>
            </a:r>
            <a:endParaRPr lang="en-US" sz="1600" dirty="0">
              <a:latin typeface="Candara" pitchFamily="34" charset="0"/>
            </a:endParaRPr>
          </a:p>
          <a:p>
            <a:pPr>
              <a:defRPr/>
            </a:pPr>
            <a:endParaRPr lang="en-US" sz="1600" dirty="0">
              <a:latin typeface="Candara" pitchFamily="34" charset="0"/>
            </a:endParaRPr>
          </a:p>
          <a:p>
            <a:pPr>
              <a:defRPr/>
            </a:pPr>
            <a:endParaRPr lang="id-ID" sz="1600" dirty="0">
              <a:latin typeface="Candara" pitchFamily="34" charset="0"/>
            </a:endParaRPr>
          </a:p>
          <a:p>
            <a:pPr>
              <a:defRPr/>
            </a:pPr>
            <a:r>
              <a:rPr lang="id-ID" sz="1600" dirty="0">
                <a:latin typeface="Candara" pitchFamily="34" charset="0"/>
              </a:rPr>
              <a:t> </a:t>
            </a:r>
          </a:p>
          <a:p>
            <a:pPr>
              <a:defRPr/>
            </a:pPr>
            <a:r>
              <a:rPr lang="en-US" sz="1600" b="1" u="sng" dirty="0">
                <a:latin typeface="Candara" pitchFamily="34" charset="0"/>
              </a:rPr>
              <a:t>               </a:t>
            </a:r>
            <a:r>
              <a:rPr lang="en-US" sz="1600" b="1" u="sng" dirty="0" err="1">
                <a:latin typeface="Candara" pitchFamily="34" charset="0"/>
              </a:rPr>
              <a:t>Masika</a:t>
            </a:r>
            <a:r>
              <a:rPr lang="en-US" sz="1600" b="1" u="sng" dirty="0">
                <a:latin typeface="Candara" pitchFamily="34" charset="0"/>
              </a:rPr>
              <a:t> </a:t>
            </a:r>
            <a:r>
              <a:rPr lang="en-US" sz="1600" b="1" u="sng" dirty="0" err="1">
                <a:latin typeface="Candara" pitchFamily="34" charset="0"/>
              </a:rPr>
              <a:t>Arinal</a:t>
            </a:r>
            <a:r>
              <a:rPr lang="en-US" sz="1600" b="1" u="sng" dirty="0">
                <a:latin typeface="Candara" pitchFamily="34" charset="0"/>
              </a:rPr>
              <a:t>                </a:t>
            </a:r>
            <a:r>
              <a:rPr lang="en-US" sz="1600" b="1" dirty="0">
                <a:latin typeface="Candara" pitchFamily="34" charset="0"/>
              </a:rPr>
              <a:t>	                            </a:t>
            </a:r>
            <a:r>
              <a:rPr lang="en-US" sz="1600" b="1" u="sng" dirty="0">
                <a:latin typeface="Candara" pitchFamily="34" charset="0"/>
              </a:rPr>
              <a:t>                                                     </a:t>
            </a:r>
            <a:r>
              <a:rPr lang="en-US" sz="1600" b="1" dirty="0">
                <a:latin typeface="Candara" pitchFamily="34" charset="0"/>
              </a:rPr>
              <a:t>  </a:t>
            </a:r>
            <a:endParaRPr lang="id-ID" sz="1600" dirty="0">
              <a:latin typeface="Candara" pitchFamily="34" charset="0"/>
            </a:endParaRPr>
          </a:p>
          <a:p>
            <a:pPr>
              <a:defRPr/>
            </a:pPr>
            <a:r>
              <a:rPr lang="id-ID" sz="1200" b="1" dirty="0">
                <a:latin typeface="Candara" pitchFamily="34" charset="0"/>
              </a:rPr>
              <a:t>PT. </a:t>
            </a:r>
            <a:r>
              <a:rPr lang="en-US" sz="1200" b="1" dirty="0">
                <a:latin typeface="Candara" pitchFamily="34" charset="0"/>
              </a:rPr>
              <a:t>SENTRAL TEHNOLOGI MANAGEMEN   </a:t>
            </a:r>
            <a:r>
              <a:rPr lang="en-US" sz="1600" b="1" dirty="0">
                <a:latin typeface="Candara" pitchFamily="34" charset="0"/>
              </a:rPr>
              <a:t>		</a:t>
            </a:r>
            <a:r>
              <a:rPr lang="en-US" sz="1200" b="1" dirty="0">
                <a:latin typeface="Candara" pitchFamily="34" charset="0"/>
              </a:rPr>
              <a:t> PT. </a:t>
            </a:r>
            <a:r>
              <a:rPr lang="en-ID" sz="1200" b="1" dirty="0" err="1">
                <a:latin typeface="Candara" pitchFamily="34" charset="0"/>
              </a:rPr>
              <a:t>Alldylas</a:t>
            </a:r>
            <a:r>
              <a:rPr lang="en-ID" sz="1200" b="1" dirty="0">
                <a:latin typeface="Candara" pitchFamily="34" charset="0"/>
              </a:rPr>
              <a:t> </a:t>
            </a:r>
            <a:r>
              <a:rPr lang="en-ID" sz="1200" b="1" dirty="0" err="1">
                <a:latin typeface="Candara" pitchFamily="34" charset="0"/>
              </a:rPr>
              <a:t>Jayatama</a:t>
            </a:r>
            <a:r>
              <a:rPr lang="en-ID" sz="1200" b="1" dirty="0">
                <a:latin typeface="Candara" pitchFamily="34" charset="0"/>
              </a:rPr>
              <a:t> Perkasa </a:t>
            </a:r>
            <a:r>
              <a:rPr lang="en-US" sz="1600" b="1" dirty="0">
                <a:latin typeface="Candara" pitchFamily="34" charset="0"/>
              </a:rPr>
              <a:t>		</a:t>
            </a:r>
            <a:endParaRPr lang="en-US" sz="1600" dirty="0">
              <a:latin typeface="Candara" pitchFamily="34" charset="0"/>
            </a:endParaRP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E2A3D437-C2C2-44EF-A49D-D91D6E3DF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1000"/>
            <a:ext cx="72409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方正大黑简体" pitchFamily="2" charset="-122"/>
                <a:ea typeface="方正大黑简体" pitchFamily="2" charset="-122"/>
              </a:rPr>
              <a:t>PERSETUJUAN PROPOSAL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B51242-5E42-4353-A61F-E819268508E0}"/>
              </a:ext>
            </a:extLst>
          </p:cNvPr>
          <p:cNvCxnSpPr/>
          <p:nvPr/>
        </p:nvCxnSpPr>
        <p:spPr>
          <a:xfrm>
            <a:off x="6096000" y="5029200"/>
            <a:ext cx="2819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7A68868-E0A3-4021-BAAB-2CF32643BC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1" y="3657601"/>
            <a:ext cx="2222491" cy="121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6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DE927A-9912-09C4-00AB-FD52512EE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9328" y="-475493"/>
            <a:ext cx="9252013" cy="65411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3A258A-209F-4857-8F6A-CD72CA035C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216" y="4583187"/>
            <a:ext cx="4177567" cy="2574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373C4C-8E83-B02B-578F-B4C18EB338AC}"/>
              </a:ext>
            </a:extLst>
          </p:cNvPr>
          <p:cNvSpPr txBox="1"/>
          <p:nvPr/>
        </p:nvSpPr>
        <p:spPr>
          <a:xfrm>
            <a:off x="6248401" y="106477"/>
            <a:ext cx="47688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bout Love" panose="02000503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Terimakasih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bout Love" panose="02000503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F54EE2-0818-116C-254D-E8D3DDA57898}"/>
              </a:ext>
            </a:extLst>
          </p:cNvPr>
          <p:cNvSpPr txBox="1"/>
          <p:nvPr/>
        </p:nvSpPr>
        <p:spPr>
          <a:xfrm>
            <a:off x="7156991" y="1500636"/>
            <a:ext cx="44885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mendapatkan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ilmu-ilmu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lainnya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kunjungi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D65E3B-7139-0D07-1D94-FE9316325F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940" y="3210536"/>
            <a:ext cx="2771648" cy="380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2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0D66C"/>
      </a:accent1>
      <a:accent2>
        <a:srgbClr val="96C8E9"/>
      </a:accent2>
      <a:accent3>
        <a:srgbClr val="FBE034"/>
      </a:accent3>
      <a:accent4>
        <a:srgbClr val="FFA246"/>
      </a:accent4>
      <a:accent5>
        <a:srgbClr val="A5A5A5"/>
      </a:accent5>
      <a:accent6>
        <a:srgbClr val="5C5C5C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</TotalTime>
  <Words>871</Words>
  <Application>Microsoft Office PowerPoint</Application>
  <PresentationFormat>Widescreen</PresentationFormat>
  <Paragraphs>217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About Love</vt:lpstr>
      <vt:lpstr>Arial</vt:lpstr>
      <vt:lpstr>Calibri</vt:lpstr>
      <vt:lpstr>Calibri Light</vt:lpstr>
      <vt:lpstr>Candara</vt:lpstr>
      <vt:lpstr>Century Gothic</vt:lpstr>
      <vt:lpstr>Corbel</vt:lpstr>
      <vt:lpstr>Montserrat</vt:lpstr>
      <vt:lpstr>Symbol</vt:lpstr>
      <vt:lpstr>Tahoma</vt:lpstr>
      <vt:lpstr>方正大黑简体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TEKNIS</dc:title>
  <dc:creator>Sentral Lenovo ip3i</dc:creator>
  <cp:lastModifiedBy>Sentral Lenovo ip3i</cp:lastModifiedBy>
  <cp:revision>185</cp:revision>
  <dcterms:created xsi:type="dcterms:W3CDTF">2024-03-28T05:16:34Z</dcterms:created>
  <dcterms:modified xsi:type="dcterms:W3CDTF">2025-07-04T10:01:38Z</dcterms:modified>
</cp:coreProperties>
</file>