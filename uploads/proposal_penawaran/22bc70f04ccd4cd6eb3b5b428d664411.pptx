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" ContentType="application/vnd.ms-exce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1262" r:id="rId4"/>
    <p:sldId id="279" r:id="rId5"/>
    <p:sldId id="1264" r:id="rId6"/>
    <p:sldId id="1266" r:id="rId7"/>
    <p:sldId id="1257" r:id="rId8"/>
    <p:sldId id="1256" r:id="rId9"/>
    <p:sldId id="274" r:id="rId10"/>
    <p:sldId id="1252" r:id="rId11"/>
    <p:sldId id="267" r:id="rId12"/>
    <p:sldId id="277" r:id="rId13"/>
    <p:sldId id="1279" r:id="rId14"/>
    <p:sldId id="294" r:id="rId15"/>
    <p:sldId id="280" r:id="rId16"/>
    <p:sldId id="1251" r:id="rId17"/>
    <p:sldId id="1276" r:id="rId18"/>
  </p:sldIdLst>
  <p:sldSz cx="9144000" cy="5143500" type="screen16x9"/>
  <p:notesSz cx="6858000" cy="9144000"/>
  <p:embeddedFontLst>
    <p:embeddedFont>
      <p:font typeface="Candara" panose="020E0502030303020204" pitchFamily="34" charset="0"/>
      <p:regular r:id="rId20"/>
      <p:bold r:id="rId21"/>
      <p:italic r:id="rId22"/>
      <p:boldItalic r:id="rId23"/>
    </p:embeddedFont>
    <p:embeddedFont>
      <p:font typeface="Maiandra GD" panose="020E0502030308020204" pitchFamily="34" charset="0"/>
      <p:regular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ExtraBold" panose="00000900000000000000" pitchFamily="2" charset="0"/>
      <p:bold r:id="rId29"/>
      <p:boldItalic r:id="rId30"/>
    </p:embeddedFont>
    <p:embeddedFont>
      <p:font typeface="Montserrat SemiBold" panose="00000700000000000000" pitchFamily="2" charset="0"/>
      <p:regular r:id="rId31"/>
      <p:bold r:id="rId32"/>
      <p:italic r:id="rId33"/>
      <p:boldItalic r:id="rId34"/>
    </p:embeddedFont>
    <p:embeddedFont>
      <p:font typeface="Roboto" panose="020000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4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presProps" Target="presProp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88a8cd28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88a8cd281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87cf9be15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87cf9be15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0248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896EA49F-F278-6833-90EE-E2A25EAD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88a8cd2819_0_121:notes">
            <a:extLst>
              <a:ext uri="{FF2B5EF4-FFF2-40B4-BE49-F238E27FC236}">
                <a16:creationId xmlns:a16="http://schemas.microsoft.com/office/drawing/2014/main" id="{F7F60C11-F7E3-D14A-229F-4C2212D48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88a8cd2819_0_121:notes">
            <a:extLst>
              <a:ext uri="{FF2B5EF4-FFF2-40B4-BE49-F238E27FC236}">
                <a16:creationId xmlns:a16="http://schemas.microsoft.com/office/drawing/2014/main" id="{F4DB3066-DA75-CA66-994C-4AE862578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6833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896EA49F-F278-6833-90EE-E2A25EAD0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88a8cd2819_0_121:notes">
            <a:extLst>
              <a:ext uri="{FF2B5EF4-FFF2-40B4-BE49-F238E27FC236}">
                <a16:creationId xmlns:a16="http://schemas.microsoft.com/office/drawing/2014/main" id="{F7F60C11-F7E3-D14A-229F-4C2212D48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88a8cd2819_0_121:notes">
            <a:extLst>
              <a:ext uri="{FF2B5EF4-FFF2-40B4-BE49-F238E27FC236}">
                <a16:creationId xmlns:a16="http://schemas.microsoft.com/office/drawing/2014/main" id="{F4DB3066-DA75-CA66-994C-4AE862578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40571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88a8cd2819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88a8cd2819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8889d1e17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8889d1e17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88a8cd2819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88a8cd2819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12 </a:t>
            </a:r>
            <a:r>
              <a:rPr lang="en-GB" dirty="0" err="1"/>
              <a:t>desember</a:t>
            </a:r>
            <a:r>
              <a:rPr lang="en-GB" dirty="0"/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8889d1e17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8889d1e17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8889d1e17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8889d1e17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698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8889d1e17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8889d1e17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9119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8889d1e17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8889d1e17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12032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8889d1e17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8889d1e17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9001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25" tIns="96625" rIns="96625" bIns="966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oleObject" Target="../embeddings/Microsoft_Excel_97-2003_Worksheet.xls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3552" y="0"/>
            <a:ext cx="9140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183705" y="120938"/>
            <a:ext cx="1759759" cy="5026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0" y="1113364"/>
            <a:ext cx="9144000" cy="122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25000" lnSpcReduction="20000"/>
          </a:bodyPr>
          <a:lstStyle/>
          <a:p>
            <a:pPr marL="1187450" marR="1444625" indent="-2540" algn="ctr">
              <a:lnSpc>
                <a:spcPct val="105000"/>
              </a:lnSpc>
              <a:spcBef>
                <a:spcPts val="75"/>
              </a:spcBef>
              <a:spcAft>
                <a:spcPts val="0"/>
              </a:spcAft>
            </a:pPr>
            <a:r>
              <a:rPr lang="en-US" sz="9600" dirty="0">
                <a:solidFill>
                  <a:srgbClr val="FFFFFF"/>
                </a:solidFill>
                <a:latin typeface="Montserrat SemiBold" pitchFamily="2" charset="0"/>
              </a:rPr>
              <a:t>BIMBINGAN KONSULTASI </a:t>
            </a:r>
          </a:p>
          <a:p>
            <a:pPr marL="1187450" marR="1444625" indent="-2540" algn="ctr">
              <a:lnSpc>
                <a:spcPct val="105000"/>
              </a:lnSpc>
              <a:spcBef>
                <a:spcPts val="75"/>
              </a:spcBef>
              <a:spcAft>
                <a:spcPts val="0"/>
              </a:spcAft>
            </a:pPr>
            <a:r>
              <a:rPr lang="en-US" sz="9600" dirty="0">
                <a:solidFill>
                  <a:srgbClr val="FFFFFF"/>
                </a:solidFill>
                <a:latin typeface="Montserrat SemiBold" pitchFamily="2" charset="0"/>
              </a:rPr>
              <a:t>INTEGRASI SISTEM MANAJEMEN BMK3L</a:t>
            </a:r>
          </a:p>
          <a:p>
            <a:pPr marL="1187450" marR="1444625" indent="-2540" algn="ctr">
              <a:lnSpc>
                <a:spcPct val="105000"/>
              </a:lnSpc>
              <a:spcBef>
                <a:spcPts val="75"/>
              </a:spcBef>
              <a:spcAft>
                <a:spcPts val="0"/>
              </a:spcAft>
            </a:pPr>
            <a:r>
              <a:rPr lang="en-US" sz="8800" dirty="0">
                <a:solidFill>
                  <a:srgbClr val="FFFFFF"/>
                </a:solidFill>
                <a:latin typeface="Montserrat SemiBold" pitchFamily="2" charset="0"/>
              </a:rPr>
              <a:t>(BISNIS, MUTU, K3, LINGKUNGAN)</a:t>
            </a:r>
            <a:endParaRPr lang="en-ID" sz="8800" dirty="0">
              <a:solidFill>
                <a:srgbClr val="FFFFFF"/>
              </a:solidFill>
              <a:latin typeface="Montserrat SemiBold" pitchFamily="2" charset="0"/>
            </a:endParaRPr>
          </a:p>
          <a:p>
            <a:pPr marL="461010" marR="718820" algn="ctr">
              <a:lnSpc>
                <a:spcPts val="1900"/>
              </a:lnSpc>
              <a:spcAft>
                <a:spcPts val="0"/>
              </a:spcAft>
            </a:pPr>
            <a:r>
              <a:rPr lang="en-US" sz="5600" dirty="0">
                <a:solidFill>
                  <a:srgbClr val="FFFFFF"/>
                </a:solidFill>
                <a:latin typeface="Montserrat SemiBold" pitchFamily="2" charset="0"/>
              </a:rPr>
              <a:t>ISO 9001:2015, ISO 45001:2018, ISO </a:t>
            </a:r>
            <a:r>
              <a:rPr lang="en-ID" sz="5600" dirty="0">
                <a:solidFill>
                  <a:srgbClr val="FFFFFF"/>
                </a:solidFill>
                <a:latin typeface="Montserrat SemiBold" pitchFamily="2" charset="0"/>
              </a:rPr>
              <a:t>14001:2015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3200" dirty="0">
              <a:solidFill>
                <a:srgbClr val="FFFFFF"/>
              </a:solidFill>
              <a:latin typeface="Montserrat ExtraBold" panose="00000900000000000000"/>
              <a:ea typeface="Montserrat ExtraBold" panose="00000900000000000000"/>
              <a:cs typeface="Montserrat ExtraBold" panose="00000900000000000000"/>
              <a:sym typeface="Montserrat ExtraBold" panose="00000900000000000000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2063051"/>
            <a:ext cx="9140448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 algn="ctr"/>
            <a:r>
              <a:rPr lang="en-GB" sz="2400" dirty="0">
                <a:solidFill>
                  <a:srgbClr val="FFC000"/>
                </a:solidFill>
                <a:latin typeface="Montserrat ExtraBold" panose="00000900000000000000" pitchFamily="2" charset="0"/>
                <a:ea typeface="Montserrat SemiBold"/>
                <a:cs typeface="Montserrat SemiBold"/>
                <a:sym typeface="Montserrat SemiBold"/>
              </a:rPr>
              <a:t>PT.</a:t>
            </a:r>
            <a:r>
              <a:rPr lang="en-US" sz="2400" dirty="0">
                <a:solidFill>
                  <a:srgbClr val="FFC000"/>
                </a:solidFill>
                <a:latin typeface="Montserrat ExtraBold" panose="00000900000000000000" pitchFamily="2" charset="0"/>
                <a:ea typeface="Montserrat SemiBold"/>
                <a:cs typeface="Montserrat SemiBold"/>
                <a:sym typeface="Montserrat SemiBold"/>
              </a:rPr>
              <a:t> Well Harvest Winning Alumina Refinery </a:t>
            </a:r>
            <a:endParaRPr lang="en-GB" sz="2400" dirty="0">
              <a:solidFill>
                <a:srgbClr val="FFC000"/>
              </a:solidFill>
              <a:latin typeface="Montserrat ExtraBold" panose="00000900000000000000" pitchFamily="2" charset="0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60" name="Google Shape;60;p13"/>
          <p:cNvCxnSpPr/>
          <p:nvPr/>
        </p:nvCxnSpPr>
        <p:spPr>
          <a:xfrm>
            <a:off x="649350" y="2241987"/>
            <a:ext cx="7845300" cy="0"/>
          </a:xfrm>
          <a:prstGeom prst="straightConnector1">
            <a:avLst/>
          </a:prstGeom>
          <a:noFill/>
          <a:ln w="38100" cap="flat" cmpd="sng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" name="Google Shape;63;p13"/>
          <p:cNvSpPr txBox="1"/>
          <p:nvPr/>
        </p:nvSpPr>
        <p:spPr>
          <a:xfrm>
            <a:off x="0" y="2695112"/>
            <a:ext cx="9144000" cy="470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GB" sz="1265" dirty="0">
                <a:solidFill>
                  <a:srgbClr val="FFFFFF"/>
                </a:solidFill>
                <a:latin typeface="Montserrat ExtraBold" panose="00000900000000000000"/>
                <a:ea typeface="Montserrat ExtraBold" panose="00000900000000000000"/>
                <a:cs typeface="Montserrat ExtraBold" panose="00000900000000000000"/>
                <a:sym typeface="Montserrat ExtraBold" panose="00000900000000000000"/>
              </a:rPr>
              <a:t>  126/STM/ES/VIII/25</a:t>
            </a:r>
            <a:endParaRPr lang="en-GB" sz="800" dirty="0">
              <a:solidFill>
                <a:srgbClr val="FFFFFF"/>
              </a:solidFill>
              <a:latin typeface="Montserrat ExtraBold" panose="00000900000000000000"/>
              <a:ea typeface="Montserrat ExtraBold" panose="00000900000000000000"/>
              <a:cs typeface="Montserrat ExtraBold" panose="00000900000000000000"/>
              <a:sym typeface="Montserrat ExtraBold" panose="000009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76" y="0"/>
            <a:ext cx="91404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27AEEC-3B8E-AF9D-AECA-A28379381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810"/>
            <a:ext cx="9144000" cy="515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80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" y="0"/>
            <a:ext cx="9140447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8AB16261-DB9E-660D-CC19-A15303FE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0A784E9A-E6B5-71AF-2CB6-BA383787617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C916A262-5F81-6153-11C2-22CFF6B213D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6">
            <a:extLst>
              <a:ext uri="{FF2B5EF4-FFF2-40B4-BE49-F238E27FC236}">
                <a16:creationId xmlns:a16="http://schemas.microsoft.com/office/drawing/2014/main" id="{AD066F78-2017-D589-55FA-FCFDF01D46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" y="10758"/>
            <a:ext cx="91404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F778CC30-D0DA-B9C3-C515-D7719E4E2D15}"/>
              </a:ext>
            </a:extLst>
          </p:cNvPr>
          <p:cNvSpPr txBox="1"/>
          <p:nvPr/>
        </p:nvSpPr>
        <p:spPr>
          <a:xfrm>
            <a:off x="-516940" y="428392"/>
            <a:ext cx="73638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Similar Client</a:t>
            </a:r>
            <a:endParaRPr sz="28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5D977-0F84-D4F8-438C-F10698AA0016}"/>
              </a:ext>
            </a:extLst>
          </p:cNvPr>
          <p:cNvSpPr txBox="1"/>
          <p:nvPr/>
        </p:nvSpPr>
        <p:spPr>
          <a:xfrm>
            <a:off x="361796" y="1032211"/>
            <a:ext cx="86349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85000"/>
                </a:schemeClr>
              </a:buClr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Nike Group</a:t>
            </a:r>
          </a:p>
          <a:p>
            <a:pPr marL="342900" indent="-342900" algn="just">
              <a:buClr>
                <a:schemeClr val="bg1">
                  <a:lumMod val="85000"/>
                </a:schemeClr>
              </a:buClr>
              <a:buAutoNum type="arabicPeriod"/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Nike Group</a:t>
            </a:r>
          </a:p>
          <a:p>
            <a:pPr algn="just">
              <a:buClr>
                <a:schemeClr val="bg1">
                  <a:lumMod val="85000"/>
                </a:schemeClr>
              </a:buClr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Sharing Training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Kalibrasi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Alat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Pengukuran</a:t>
            </a:r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chemeClr val="bg1">
                  <a:lumMod val="85000"/>
                </a:schemeClr>
              </a:buClr>
            </a:pPr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Clr>
                <a:schemeClr val="bg1">
                  <a:lumMod val="85000"/>
                </a:schemeClr>
              </a:buClr>
              <a:buFont typeface="+mj-lt"/>
              <a:buAutoNum type="arabicPeriod" startAt="2"/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Selalu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Cinta Indonesia</a:t>
            </a:r>
          </a:p>
          <a:p>
            <a:pPr algn="just"/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Integrasi K3L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SMK3 PP 50/12; ISO 45001:2018; ISO 14001:2015</a:t>
            </a:r>
          </a:p>
          <a:p>
            <a:pPr algn="just"/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chemeClr val="bg1"/>
              </a:buClr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  PT  Feng Tay Indonesia Enterprises</a:t>
            </a:r>
          </a:p>
          <a:p>
            <a:pPr algn="just"/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Integrasi K3L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SMK3 PP 50/12; ISO 45001:2018; ISO 14001:2015</a:t>
            </a:r>
          </a:p>
          <a:p>
            <a:pPr marL="342900" indent="-342900" algn="just">
              <a:buClr>
                <a:schemeClr val="bg1"/>
              </a:buClr>
              <a:buAutoNum type="arabicPeriod" startAt="4"/>
            </a:pPr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Clr>
                <a:schemeClr val="bg1"/>
              </a:buClr>
              <a:buAutoNum type="arabicPeriod" startAt="4"/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 Chang Shin Indonesia </a:t>
            </a:r>
          </a:p>
          <a:p>
            <a:pPr algn="just"/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Inhouse Training &amp; Coaching Integrasi ISO 45001:2018 dan Energy Management </a:t>
            </a:r>
          </a:p>
          <a:p>
            <a:pPr algn="just"/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System ISO 50001:2018</a:t>
            </a:r>
          </a:p>
          <a:p>
            <a:pPr algn="just"/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Integrasi K3L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SMK3 PP 50/12;  OHSAS 18001:2018; ISO 14001:2015</a:t>
            </a:r>
          </a:p>
          <a:p>
            <a:pPr algn="just"/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buAutoNum type="arabicPeriod" startAt="2"/>
            </a:pPr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816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8AB16261-DB9E-660D-CC19-A15303FE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0A784E9A-E6B5-71AF-2CB6-BA383787617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C916A262-5F81-6153-11C2-22CFF6B213D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6">
            <a:extLst>
              <a:ext uri="{FF2B5EF4-FFF2-40B4-BE49-F238E27FC236}">
                <a16:creationId xmlns:a16="http://schemas.microsoft.com/office/drawing/2014/main" id="{AD066F78-2017-D589-55FA-FCFDF01D46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" y="10758"/>
            <a:ext cx="91404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F778CC30-D0DA-B9C3-C515-D7719E4E2D15}"/>
              </a:ext>
            </a:extLst>
          </p:cNvPr>
          <p:cNvSpPr txBox="1"/>
          <p:nvPr/>
        </p:nvSpPr>
        <p:spPr>
          <a:xfrm>
            <a:off x="-516940" y="428392"/>
            <a:ext cx="73638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Similar Client</a:t>
            </a:r>
            <a:endParaRPr sz="2800"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5D977-0F84-D4F8-438C-F10698AA0016}"/>
              </a:ext>
            </a:extLst>
          </p:cNvPr>
          <p:cNvSpPr txBox="1"/>
          <p:nvPr/>
        </p:nvSpPr>
        <p:spPr>
          <a:xfrm>
            <a:off x="662262" y="1091092"/>
            <a:ext cx="86349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85000"/>
                </a:schemeClr>
              </a:buClr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Adidas Group</a:t>
            </a:r>
          </a:p>
          <a:p>
            <a:pPr algn="just">
              <a:buClr>
                <a:schemeClr val="bg1">
                  <a:lumMod val="85000"/>
                </a:schemeClr>
              </a:buClr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 PT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Chingluh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Indonesia</a:t>
            </a:r>
          </a:p>
          <a:p>
            <a:pPr algn="just"/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OHSAS 18001:2007</a:t>
            </a:r>
          </a:p>
          <a:p>
            <a:pPr algn="just">
              <a:buClr>
                <a:schemeClr val="bg1">
                  <a:lumMod val="85000"/>
                </a:schemeClr>
              </a:buClr>
            </a:pPr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chemeClr val="bg1">
                  <a:lumMod val="85000"/>
                </a:schemeClr>
              </a:buClr>
            </a:pPr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chemeClr val="bg1">
                  <a:lumMod val="85000"/>
                </a:schemeClr>
              </a:buClr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 PT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Sepatumas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Idaman</a:t>
            </a:r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Inhouse Training &amp; Coaching Caracter Building</a:t>
            </a:r>
          </a:p>
          <a:p>
            <a:pPr algn="just"/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chemeClr val="bg1">
                  <a:lumMod val="85000"/>
                </a:schemeClr>
              </a:buClr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PT Framas Indonesia</a:t>
            </a:r>
          </a:p>
          <a:p>
            <a:pPr algn="just">
              <a:buClr>
                <a:schemeClr val="bg1">
                  <a:lumMod val="85000"/>
                </a:schemeClr>
              </a:buClr>
            </a:pP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800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Penerapan</a:t>
            </a:r>
            <a:r>
              <a:rPr lang="en-ID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ISO 9001</a:t>
            </a:r>
          </a:p>
          <a:p>
            <a:pPr algn="just">
              <a:buClr>
                <a:schemeClr val="bg1">
                  <a:lumMod val="85000"/>
                </a:schemeClr>
              </a:buClr>
            </a:pPr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D" sz="18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25437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" y="0"/>
            <a:ext cx="9140447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73966" y="1134192"/>
            <a:ext cx="464757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D" dirty="0" err="1">
                <a:solidFill>
                  <a:schemeClr val="bg1"/>
                </a:solidFill>
              </a:rPr>
              <a:t>Memberi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pemahaman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tentang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perkembangan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jaman</a:t>
            </a:r>
            <a:r>
              <a:rPr lang="en-ID" dirty="0">
                <a:solidFill>
                  <a:schemeClr val="bg1"/>
                </a:solidFill>
              </a:rPr>
              <a:t> vs </a:t>
            </a:r>
            <a:r>
              <a:rPr lang="en-ID" dirty="0" err="1">
                <a:solidFill>
                  <a:schemeClr val="bg1"/>
                </a:solidFill>
              </a:rPr>
              <a:t>perkembangan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sistem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manajemen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mutu</a:t>
            </a:r>
            <a:r>
              <a:rPr lang="en-ID" dirty="0">
                <a:solidFill>
                  <a:schemeClr val="bg1"/>
                </a:solidFill>
              </a:rPr>
              <a:t>, </a:t>
            </a:r>
            <a:r>
              <a:rPr lang="en-ID" dirty="0" err="1">
                <a:solidFill>
                  <a:schemeClr val="bg1"/>
                </a:solidFill>
              </a:rPr>
              <a:t>dimana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perusahaan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sudah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banyak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menggunakan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teknologi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didalam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penerapan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sistem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manajemen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mutu</a:t>
            </a:r>
            <a:r>
              <a:rPr lang="en-ID" dirty="0">
                <a:solidFill>
                  <a:schemeClr val="bg1"/>
                </a:solidFill>
              </a:rPr>
              <a:t> ISO 9001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ID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D" dirty="0" err="1">
                <a:solidFill>
                  <a:schemeClr val="bg1"/>
                </a:solidFill>
              </a:rPr>
              <a:t>Memberi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pemahaman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tentang</a:t>
            </a:r>
            <a:r>
              <a:rPr lang="en-ID" dirty="0">
                <a:solidFill>
                  <a:schemeClr val="bg1"/>
                </a:solidFill>
              </a:rPr>
              <a:t> basic risk management, </a:t>
            </a:r>
            <a:r>
              <a:rPr lang="en-ID" dirty="0" err="1">
                <a:solidFill>
                  <a:schemeClr val="bg1"/>
                </a:solidFill>
              </a:rPr>
              <a:t>karena</a:t>
            </a:r>
            <a:r>
              <a:rPr lang="en-ID" dirty="0">
                <a:solidFill>
                  <a:schemeClr val="bg1"/>
                </a:solidFill>
              </a:rPr>
              <a:t> risk management </a:t>
            </a:r>
            <a:r>
              <a:rPr lang="en-ID" dirty="0" err="1">
                <a:solidFill>
                  <a:schemeClr val="bg1"/>
                </a:solidFill>
              </a:rPr>
              <a:t>adalah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fondasi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penyusunan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sistem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manajemen</a:t>
            </a:r>
            <a:r>
              <a:rPr lang="en-ID" dirty="0">
                <a:solidFill>
                  <a:schemeClr val="bg1"/>
                </a:solidFill>
              </a:rPr>
              <a:t> ISO 9001 </a:t>
            </a:r>
            <a:r>
              <a:rPr lang="en-ID" dirty="0" err="1">
                <a:solidFill>
                  <a:schemeClr val="bg1"/>
                </a:solidFill>
              </a:rPr>
              <a:t>berbasis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pencegahan</a:t>
            </a:r>
            <a:endParaRPr lang="en-ID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ID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D" dirty="0" err="1">
                <a:solidFill>
                  <a:schemeClr val="bg1"/>
                </a:solidFill>
              </a:rPr>
              <a:t>Pendekatan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sistem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pengajaran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berdasarkan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logika</a:t>
            </a:r>
            <a:r>
              <a:rPr lang="en-ID" dirty="0">
                <a:solidFill>
                  <a:schemeClr val="bg1"/>
                </a:solidFill>
              </a:rPr>
              <a:t>, </a:t>
            </a:r>
            <a:r>
              <a:rPr lang="en-ID" dirty="0" err="1">
                <a:solidFill>
                  <a:schemeClr val="bg1"/>
                </a:solidFill>
              </a:rPr>
              <a:t>menjelaskan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keterkaitan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antar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pasal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dalam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bentuk</a:t>
            </a:r>
            <a:r>
              <a:rPr lang="en-ID" dirty="0">
                <a:solidFill>
                  <a:schemeClr val="bg1"/>
                </a:solidFill>
              </a:rPr>
              <a:t> flow </a:t>
            </a:r>
            <a:r>
              <a:rPr lang="en-ID" dirty="0" err="1">
                <a:solidFill>
                  <a:schemeClr val="bg1"/>
                </a:solidFill>
              </a:rPr>
              <a:t>bisnis</a:t>
            </a:r>
            <a:r>
              <a:rPr lang="en-ID" dirty="0">
                <a:solidFill>
                  <a:schemeClr val="bg1"/>
                </a:solidFill>
              </a:rPr>
              <a:t> proses </a:t>
            </a:r>
            <a:r>
              <a:rPr lang="en-ID" dirty="0" err="1">
                <a:solidFill>
                  <a:schemeClr val="bg1"/>
                </a:solidFill>
              </a:rPr>
              <a:t>perusahaan</a:t>
            </a:r>
            <a:endParaRPr lang="en-ID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ID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D" dirty="0">
                <a:solidFill>
                  <a:schemeClr val="bg1"/>
                </a:solidFill>
              </a:rPr>
              <a:t>Workshop yang </a:t>
            </a:r>
            <a:r>
              <a:rPr lang="en-ID" dirty="0" err="1">
                <a:solidFill>
                  <a:schemeClr val="bg1"/>
                </a:solidFill>
              </a:rPr>
              <a:t>disertai</a:t>
            </a:r>
            <a:r>
              <a:rPr lang="en-ID" dirty="0">
                <a:solidFill>
                  <a:schemeClr val="bg1"/>
                </a:solidFill>
              </a:rPr>
              <a:t> </a:t>
            </a:r>
            <a:r>
              <a:rPr lang="en-ID" dirty="0" err="1">
                <a:solidFill>
                  <a:schemeClr val="bg1"/>
                </a:solidFill>
              </a:rPr>
              <a:t>dengan</a:t>
            </a:r>
            <a:r>
              <a:rPr lang="en-ID" dirty="0">
                <a:solidFill>
                  <a:schemeClr val="bg1"/>
                </a:solidFill>
              </a:rPr>
              <a:t> video2 </a:t>
            </a:r>
            <a:r>
              <a:rPr lang="en-ID" dirty="0" err="1">
                <a:solidFill>
                  <a:schemeClr val="bg1"/>
                </a:solidFill>
              </a:rPr>
              <a:t>penjelasan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6" name="Google Shape;85;p16"/>
          <p:cNvSpPr txBox="1"/>
          <p:nvPr/>
        </p:nvSpPr>
        <p:spPr>
          <a:xfrm>
            <a:off x="3636353" y="298788"/>
            <a:ext cx="4435605" cy="83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400" b="1" dirty="0" err="1">
                <a:solidFill>
                  <a:schemeClr val="bg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Pendekatan</a:t>
            </a:r>
            <a:r>
              <a:rPr lang="en-ID" sz="4400" b="1" dirty="0">
                <a:solidFill>
                  <a:schemeClr val="bg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Sistem</a:t>
            </a:r>
            <a:r>
              <a:rPr lang="en-ID" sz="4400" b="1" dirty="0">
                <a:solidFill>
                  <a:schemeClr val="bg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ID" sz="4400" b="1" dirty="0">
                <a:solidFill>
                  <a:srgbClr val="FFC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Training ISO 9001 </a:t>
            </a:r>
            <a:endParaRPr sz="2800" b="1" dirty="0">
              <a:solidFill>
                <a:srgbClr val="FFC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77" y="0"/>
            <a:ext cx="9144000" cy="5143500"/>
          </a:xfrm>
          <a:prstGeom prst="rect">
            <a:avLst/>
          </a:prstGeom>
        </p:spPr>
      </p:pic>
      <p:sp>
        <p:nvSpPr>
          <p:cNvPr id="7" name="Google Shape;85;p16"/>
          <p:cNvSpPr txBox="1"/>
          <p:nvPr/>
        </p:nvSpPr>
        <p:spPr>
          <a:xfrm>
            <a:off x="1846168" y="162911"/>
            <a:ext cx="7363800" cy="6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 b="1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Latar Belakang Masalah</a:t>
            </a:r>
            <a:endParaRPr sz="3500" b="1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" name="Google Shape;86;p16"/>
          <p:cNvSpPr txBox="1"/>
          <p:nvPr/>
        </p:nvSpPr>
        <p:spPr>
          <a:xfrm>
            <a:off x="478275" y="1320804"/>
            <a:ext cx="5475906" cy="268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spcBef>
                <a:spcPts val="1000"/>
              </a:spcBef>
            </a:pP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Memahami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ISO 9001, SMK3 PP 50, ISO 45001, ISO 14001,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tidak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cukup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dengan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hanya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memahami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intepretasi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dari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persyaratan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pasal-pasal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yang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ada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di ISO 9001, ISO 45001, ISO 14001,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tetapi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kita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perlu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memahami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MAKSUD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atau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TUJUAN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dari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persyaratan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tersebut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dan KETERKAITANNYA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dengan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KINERJA PERUSAHAAN dan MEMATUHI PERATURAN TERKAIT K3L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dari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Regulasi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pemerintah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  </a:t>
            </a:r>
          </a:p>
          <a:p>
            <a:pPr algn="just">
              <a:spcBef>
                <a:spcPts val="1000"/>
              </a:spcBef>
            </a:pP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Dengan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cara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Perusahaan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dapat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menerapkan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Sistem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Manajemen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ISO 9001, ISO 45001, ISO 14001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dengan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menyusun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prosedur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yang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tidak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sekedar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mendapatkan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sertifikat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namun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bisa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memberi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manfaat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nyata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untuk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peningkatan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kinerja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perusahaan</a:t>
            </a:r>
            <a:r>
              <a:rPr lang="en-US" sz="16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endParaRPr sz="1600" dirty="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Content Placeholder 2"/>
          <p:cNvSpPr txBox="1"/>
          <p:nvPr/>
        </p:nvSpPr>
        <p:spPr>
          <a:xfrm>
            <a:off x="195165" y="522273"/>
            <a:ext cx="5800901" cy="2179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339725" indent="-339725" algn="just">
              <a:buFont typeface="Arial" panose="020B0604020202020204"/>
              <a:buNone/>
            </a:pPr>
            <a:endParaRPr lang="en-US" sz="15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39725" lvl="2" indent="0" algn="just">
              <a:buFont typeface="Arial" panose="020B0604020202020204"/>
              <a:buNone/>
            </a:pP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Diciptakan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High Level Structure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menjadi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acuan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Sinkronisasi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antar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Sistem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Manajemen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dengan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berbagai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standar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ISO,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seperti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ISO 9001, IATF 16949, ISO 45001, ISO 14001, ISO 50001, ISO 27001, ISO 22301, dan lain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sebagainya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. Hal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ini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memudahkan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proses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integrasi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beberapa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Sistem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Manjemen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yang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diterapkan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perusahaan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. 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Begitu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pula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dengan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Konsep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Integrasi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dalam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Penerapan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Integrasi BMK3L refer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ke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Persyaratan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ISO 9001:2015, ISO 45001:2018, ISO 14001:2015, yang kami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tawarkan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bertujuan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Wingdings" panose="05000000000000000000" pitchFamily="2" charset="2"/>
              </a:rPr>
              <a:t>: </a:t>
            </a:r>
            <a:endParaRPr lang="en-US" sz="15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450095" y="2409911"/>
            <a:ext cx="5545971" cy="268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Mengurangi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konflik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antar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standard. Quality first vs Safety first vs Environment first vs Business first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Pola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Pikir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menyeluruh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fokus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pada proses dan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setiap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proses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harus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menghasilkan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kinerja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BMK3L (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Bisnis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Mutu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–K3–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Lingkungan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sesuai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target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Karyawan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hanya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berpedoman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pada 1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Sistem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Perusahaan yang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sudah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mengandung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unsur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BMK3L  </a:t>
            </a:r>
          </a:p>
          <a:p>
            <a:pPr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Mengurangi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duplikasi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pekerjaan</a:t>
            </a:r>
            <a:endParaRPr lang="en-US" sz="15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57250" lvl="1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Audit 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Mutu</a:t>
            </a: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Audit K3, Audit </a:t>
            </a:r>
            <a:r>
              <a:rPr lang="en-US" sz="15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Lingkungan</a:t>
            </a:r>
            <a:endParaRPr lang="en-US" sz="15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57250" lvl="1" indent="-285750">
              <a:buClr>
                <a:schemeClr val="bg1"/>
              </a:buClr>
              <a:buFont typeface="Wingdings" panose="05000000000000000000" pitchFamily="2" charset="2"/>
              <a:buChar char="ü"/>
            </a:pPr>
            <a:r>
              <a:rPr lang="en-US" sz="15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Management Review ISO 9001, Management Review ISO 45001, Management Review  ISO 14001, Business Performance Meeting</a:t>
            </a:r>
          </a:p>
          <a:p>
            <a:pPr>
              <a:buFont typeface="Arial" panose="020B0604020202020204"/>
              <a:buNone/>
            </a:pPr>
            <a:endParaRPr lang="en-US" sz="15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" y="0"/>
            <a:ext cx="9140447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89242" y="594489"/>
            <a:ext cx="4647575" cy="4624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D" sz="1350" dirty="0" err="1">
                <a:solidFill>
                  <a:schemeClr val="bg1"/>
                </a:solidFill>
              </a:rPr>
              <a:t>Bimbingan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konsultasi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dalam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Penerapan</a:t>
            </a:r>
            <a:r>
              <a:rPr lang="en-ID" sz="1350" dirty="0">
                <a:solidFill>
                  <a:schemeClr val="bg1"/>
                </a:solidFill>
              </a:rPr>
              <a:t> Integrasi BMK3LEn (</a:t>
            </a:r>
            <a:r>
              <a:rPr lang="en-ID" sz="1350" dirty="0" err="1">
                <a:solidFill>
                  <a:schemeClr val="bg1"/>
                </a:solidFill>
              </a:rPr>
              <a:t>Bisnis</a:t>
            </a:r>
            <a:r>
              <a:rPr lang="en-ID" sz="1350" dirty="0">
                <a:solidFill>
                  <a:schemeClr val="bg1"/>
                </a:solidFill>
              </a:rPr>
              <a:t>, Mutu, K3, </a:t>
            </a:r>
            <a:r>
              <a:rPr lang="en-ID" sz="1350" dirty="0" err="1">
                <a:solidFill>
                  <a:schemeClr val="bg1"/>
                </a:solidFill>
              </a:rPr>
              <a:t>Lingkungan</a:t>
            </a:r>
            <a:r>
              <a:rPr lang="en-ID" sz="1350" dirty="0">
                <a:solidFill>
                  <a:schemeClr val="bg1"/>
                </a:solidFill>
              </a:rPr>
              <a:t>, </a:t>
            </a:r>
            <a:r>
              <a:rPr lang="en-ID" sz="1350" dirty="0" err="1">
                <a:solidFill>
                  <a:schemeClr val="bg1"/>
                </a:solidFill>
              </a:rPr>
              <a:t>Energi</a:t>
            </a:r>
            <a:r>
              <a:rPr lang="en-ID" sz="1350" dirty="0">
                <a:solidFill>
                  <a:schemeClr val="bg1"/>
                </a:solidFill>
              </a:rPr>
              <a:t>) </a:t>
            </a:r>
            <a:r>
              <a:rPr lang="en-ID" sz="1350" dirty="0" err="1">
                <a:solidFill>
                  <a:schemeClr val="bg1"/>
                </a:solidFill>
              </a:rPr>
              <a:t>dengan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melihat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perkembangan</a:t>
            </a:r>
            <a:r>
              <a:rPr lang="en-ID" sz="1350" dirty="0">
                <a:solidFill>
                  <a:schemeClr val="bg1"/>
                </a:solidFill>
              </a:rPr>
              <a:t> zaman vs </a:t>
            </a:r>
            <a:r>
              <a:rPr lang="en-ID" sz="1350" dirty="0" err="1">
                <a:solidFill>
                  <a:schemeClr val="bg1"/>
                </a:solidFill>
              </a:rPr>
              <a:t>perkembangan</a:t>
            </a:r>
            <a:r>
              <a:rPr lang="en-ID" sz="1350" dirty="0">
                <a:solidFill>
                  <a:schemeClr val="bg1"/>
                </a:solidFill>
              </a:rPr>
              <a:t> Sistem </a:t>
            </a:r>
            <a:r>
              <a:rPr lang="en-ID" sz="1350" dirty="0" err="1">
                <a:solidFill>
                  <a:schemeClr val="bg1"/>
                </a:solidFill>
              </a:rPr>
              <a:t>Manajemen</a:t>
            </a:r>
            <a:r>
              <a:rPr lang="en-ID" sz="1350" dirty="0">
                <a:solidFill>
                  <a:schemeClr val="bg1"/>
                </a:solidFill>
              </a:rPr>
              <a:t> Mutu, K3, </a:t>
            </a:r>
            <a:r>
              <a:rPr lang="en-ID" sz="1350" dirty="0" err="1">
                <a:solidFill>
                  <a:schemeClr val="bg1"/>
                </a:solidFill>
              </a:rPr>
              <a:t>Lingkungan</a:t>
            </a:r>
            <a:r>
              <a:rPr lang="en-ID" sz="1350" dirty="0">
                <a:solidFill>
                  <a:schemeClr val="bg1"/>
                </a:solidFill>
              </a:rPr>
              <a:t>, dan </a:t>
            </a:r>
            <a:r>
              <a:rPr lang="en-ID" sz="1350" dirty="0" err="1">
                <a:solidFill>
                  <a:schemeClr val="bg1"/>
                </a:solidFill>
              </a:rPr>
              <a:t>Energi</a:t>
            </a:r>
            <a:r>
              <a:rPr lang="en-ID" sz="1350" dirty="0">
                <a:solidFill>
                  <a:schemeClr val="bg1"/>
                </a:solidFill>
              </a:rPr>
              <a:t> di mana </a:t>
            </a:r>
            <a:r>
              <a:rPr lang="en-ID" sz="1350" dirty="0" err="1">
                <a:solidFill>
                  <a:schemeClr val="bg1"/>
                </a:solidFill>
              </a:rPr>
              <a:t>perusahaan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sudah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banyak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perkembangan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teknologi</a:t>
            </a:r>
            <a:r>
              <a:rPr lang="en-ID" sz="1350" dirty="0">
                <a:solidFill>
                  <a:schemeClr val="bg1"/>
                </a:solidFill>
              </a:rPr>
              <a:t>, </a:t>
            </a:r>
            <a:r>
              <a:rPr lang="en-ID" sz="1350" dirty="0" err="1">
                <a:solidFill>
                  <a:schemeClr val="bg1"/>
                </a:solidFill>
              </a:rPr>
              <a:t>budaya</a:t>
            </a:r>
            <a:r>
              <a:rPr lang="en-ID" sz="1350" dirty="0">
                <a:solidFill>
                  <a:schemeClr val="bg1"/>
                </a:solidFill>
              </a:rPr>
              <a:t>, </a:t>
            </a:r>
            <a:r>
              <a:rPr lang="en-ID" sz="1350" dirty="0" err="1">
                <a:solidFill>
                  <a:schemeClr val="bg1"/>
                </a:solidFill>
              </a:rPr>
              <a:t>Peraturan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Pemerintah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terkait</a:t>
            </a:r>
            <a:r>
              <a:rPr lang="en-ID" sz="1350" dirty="0">
                <a:solidFill>
                  <a:schemeClr val="bg1"/>
                </a:solidFill>
              </a:rPr>
              <a:t>  </a:t>
            </a:r>
            <a:r>
              <a:rPr lang="en-ID" sz="1350" dirty="0" err="1">
                <a:solidFill>
                  <a:schemeClr val="bg1"/>
                </a:solidFill>
              </a:rPr>
              <a:t>bisnis</a:t>
            </a:r>
            <a:r>
              <a:rPr lang="en-ID" sz="1350" dirty="0">
                <a:solidFill>
                  <a:schemeClr val="bg1"/>
                </a:solidFill>
              </a:rPr>
              <a:t>, K3LEn yang </a:t>
            </a:r>
            <a:r>
              <a:rPr lang="en-ID" sz="1350" dirty="0" err="1">
                <a:solidFill>
                  <a:schemeClr val="bg1"/>
                </a:solidFill>
              </a:rPr>
              <a:t>berpengaruh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bagi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bisnisnya</a:t>
            </a:r>
            <a:r>
              <a:rPr lang="en-ID" sz="1350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ID" sz="110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D" sz="1350" dirty="0" err="1">
                <a:solidFill>
                  <a:schemeClr val="bg1"/>
                </a:solidFill>
              </a:rPr>
              <a:t>Konsultan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mengarahkan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klien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untuk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identifikasi</a:t>
            </a:r>
            <a:r>
              <a:rPr lang="en-ID" sz="1350" dirty="0">
                <a:solidFill>
                  <a:schemeClr val="bg1"/>
                </a:solidFill>
              </a:rPr>
              <a:t> Risk Management yang </a:t>
            </a:r>
            <a:r>
              <a:rPr lang="en-ID" sz="1350" dirty="0" err="1">
                <a:solidFill>
                  <a:schemeClr val="bg1"/>
                </a:solidFill>
              </a:rPr>
              <a:t>saling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terintegrasi</a:t>
            </a:r>
            <a:r>
              <a:rPr lang="en-ID" sz="1350" dirty="0">
                <a:solidFill>
                  <a:schemeClr val="bg1"/>
                </a:solidFill>
              </a:rPr>
              <a:t>, </a:t>
            </a:r>
            <a:r>
              <a:rPr lang="en-ID" sz="1350" dirty="0" err="1">
                <a:solidFill>
                  <a:schemeClr val="bg1"/>
                </a:solidFill>
              </a:rPr>
              <a:t>karena</a:t>
            </a:r>
            <a:r>
              <a:rPr lang="en-ID" sz="1350" dirty="0">
                <a:solidFill>
                  <a:schemeClr val="bg1"/>
                </a:solidFill>
              </a:rPr>
              <a:t> Risk Management </a:t>
            </a:r>
            <a:r>
              <a:rPr lang="en-ID" sz="1350" dirty="0" err="1">
                <a:solidFill>
                  <a:schemeClr val="bg1"/>
                </a:solidFill>
              </a:rPr>
              <a:t>adalah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fondasi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penyusunan</a:t>
            </a:r>
            <a:r>
              <a:rPr lang="en-ID" sz="1350" dirty="0">
                <a:solidFill>
                  <a:schemeClr val="bg1"/>
                </a:solidFill>
              </a:rPr>
              <a:t> Sistem </a:t>
            </a:r>
            <a:r>
              <a:rPr lang="en-ID" sz="1350" dirty="0" err="1">
                <a:solidFill>
                  <a:schemeClr val="bg1"/>
                </a:solidFill>
              </a:rPr>
              <a:t>Manajemen</a:t>
            </a:r>
            <a:r>
              <a:rPr lang="en-ID" sz="1350" dirty="0">
                <a:solidFill>
                  <a:schemeClr val="bg1"/>
                </a:solidFill>
              </a:rPr>
              <a:t> ISO 9001, ISO 45001, ISO 14001, ISO 50001 </a:t>
            </a:r>
            <a:r>
              <a:rPr lang="en-ID" sz="1350" dirty="0" err="1">
                <a:solidFill>
                  <a:schemeClr val="bg1"/>
                </a:solidFill>
              </a:rPr>
              <a:t>berbasis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pencegahan</a:t>
            </a:r>
            <a:endParaRPr lang="en-ID" sz="135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endParaRPr lang="en-ID" sz="1350" dirty="0">
              <a:solidFill>
                <a:schemeClr val="bg1"/>
              </a:solidFill>
            </a:endParaRPr>
          </a:p>
          <a:p>
            <a:pPr marL="285750" indent="-285750" algn="just"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ID" sz="1350" dirty="0">
                <a:solidFill>
                  <a:schemeClr val="bg1"/>
                </a:solidFill>
              </a:rPr>
              <a:t>Program </a:t>
            </a:r>
            <a:r>
              <a:rPr lang="en-ID" sz="1350" dirty="0" err="1">
                <a:solidFill>
                  <a:schemeClr val="bg1"/>
                </a:solidFill>
              </a:rPr>
              <a:t>Bimbingan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Konsultasi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Penerapan</a:t>
            </a:r>
            <a:r>
              <a:rPr lang="en-ID" sz="1350" dirty="0">
                <a:solidFill>
                  <a:schemeClr val="bg1"/>
                </a:solidFill>
              </a:rPr>
              <a:t> Integrasi BMK3LEn ISO  9001,ISO 45001, ISO 14001, ISO 50001 </a:t>
            </a:r>
            <a:r>
              <a:rPr lang="en-ID" sz="1350" dirty="0" err="1">
                <a:solidFill>
                  <a:schemeClr val="bg1"/>
                </a:solidFill>
              </a:rPr>
              <a:t>memadukan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keterkaitan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antar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pasal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dalam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bentuk</a:t>
            </a:r>
            <a:r>
              <a:rPr lang="en-ID" sz="1350" dirty="0">
                <a:solidFill>
                  <a:schemeClr val="bg1"/>
                </a:solidFill>
              </a:rPr>
              <a:t> flow </a:t>
            </a:r>
            <a:r>
              <a:rPr lang="en-ID" sz="1350" dirty="0" err="1">
                <a:solidFill>
                  <a:schemeClr val="bg1"/>
                </a:solidFill>
              </a:rPr>
              <a:t>bisnis</a:t>
            </a:r>
            <a:r>
              <a:rPr lang="en-ID" sz="1350" dirty="0">
                <a:solidFill>
                  <a:schemeClr val="bg1"/>
                </a:solidFill>
              </a:rPr>
              <a:t> proses </a:t>
            </a:r>
            <a:r>
              <a:rPr lang="en-ID" sz="1350" dirty="0" err="1">
                <a:solidFill>
                  <a:schemeClr val="bg1"/>
                </a:solidFill>
              </a:rPr>
              <a:t>perusahaan</a:t>
            </a:r>
            <a:r>
              <a:rPr lang="en-ID" sz="1350" dirty="0">
                <a:solidFill>
                  <a:schemeClr val="bg1"/>
                </a:solidFill>
              </a:rPr>
              <a:t>, </a:t>
            </a:r>
            <a:r>
              <a:rPr lang="en-ID" sz="1350" dirty="0" err="1">
                <a:solidFill>
                  <a:schemeClr val="bg1"/>
                </a:solidFill>
              </a:rPr>
              <a:t>termasuk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penerapan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Aspek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Dampak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Lingkungan</a:t>
            </a:r>
            <a:r>
              <a:rPr lang="en-ID" sz="1350" dirty="0">
                <a:solidFill>
                  <a:schemeClr val="bg1"/>
                </a:solidFill>
              </a:rPr>
              <a:t> (IADL) dan IBPR/ HIRADC (</a:t>
            </a:r>
            <a:r>
              <a:rPr lang="en-ID" sz="1350" dirty="0" err="1">
                <a:solidFill>
                  <a:schemeClr val="bg1"/>
                </a:solidFill>
              </a:rPr>
              <a:t>Identifikasi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Bahaya</a:t>
            </a:r>
            <a:r>
              <a:rPr lang="en-ID" sz="1350" dirty="0">
                <a:solidFill>
                  <a:schemeClr val="bg1"/>
                </a:solidFill>
              </a:rPr>
              <a:t> – </a:t>
            </a:r>
            <a:r>
              <a:rPr lang="en-ID" sz="1350" dirty="0" err="1">
                <a:solidFill>
                  <a:schemeClr val="bg1"/>
                </a:solidFill>
              </a:rPr>
              <a:t>Risiko</a:t>
            </a:r>
            <a:r>
              <a:rPr lang="en-ID" sz="1350" dirty="0">
                <a:solidFill>
                  <a:schemeClr val="bg1"/>
                </a:solidFill>
              </a:rPr>
              <a:t>) </a:t>
            </a:r>
            <a:r>
              <a:rPr lang="en-ID" sz="1350" dirty="0" err="1">
                <a:solidFill>
                  <a:schemeClr val="bg1"/>
                </a:solidFill>
              </a:rPr>
              <a:t>dalam</a:t>
            </a:r>
            <a:r>
              <a:rPr lang="en-ID" sz="1350" dirty="0">
                <a:solidFill>
                  <a:schemeClr val="bg1"/>
                </a:solidFill>
              </a:rPr>
              <a:t> </a:t>
            </a:r>
            <a:r>
              <a:rPr lang="en-ID" sz="1350" dirty="0" err="1">
                <a:solidFill>
                  <a:schemeClr val="bg1"/>
                </a:solidFill>
              </a:rPr>
              <a:t>penerapannya</a:t>
            </a:r>
            <a:r>
              <a:rPr lang="en-ID" sz="1350" dirty="0">
                <a:solidFill>
                  <a:schemeClr val="bg1"/>
                </a:solidFill>
              </a:rPr>
              <a:t> di </a:t>
            </a:r>
            <a:r>
              <a:rPr lang="en-ID" sz="1350" dirty="0" err="1">
                <a:solidFill>
                  <a:schemeClr val="bg1"/>
                </a:solidFill>
              </a:rPr>
              <a:t>perusahaan</a:t>
            </a:r>
            <a:endParaRPr lang="en-ID" sz="1350" dirty="0">
              <a:solidFill>
                <a:schemeClr val="bg1"/>
              </a:solidFill>
            </a:endParaRPr>
          </a:p>
        </p:txBody>
      </p:sp>
      <p:sp>
        <p:nvSpPr>
          <p:cNvPr id="6" name="Google Shape;85;p16"/>
          <p:cNvSpPr txBox="1"/>
          <p:nvPr/>
        </p:nvSpPr>
        <p:spPr>
          <a:xfrm>
            <a:off x="4447930" y="-75332"/>
            <a:ext cx="4435605" cy="83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4400" b="1" dirty="0" err="1">
                <a:solidFill>
                  <a:schemeClr val="bg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Pendekatan</a:t>
            </a:r>
            <a:r>
              <a:rPr lang="en-ID" sz="4400" b="1" dirty="0">
                <a:solidFill>
                  <a:schemeClr val="bg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ID" sz="4400" b="1" dirty="0" err="1">
                <a:solidFill>
                  <a:schemeClr val="bg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Penyusunan</a:t>
            </a:r>
            <a:r>
              <a:rPr lang="en-ID" sz="4400" b="1" dirty="0">
                <a:solidFill>
                  <a:schemeClr val="bg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r>
              <a:rPr lang="en-ID" sz="4400" b="1" dirty="0">
                <a:solidFill>
                  <a:srgbClr val="FFC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Integrasi BMK3L </a:t>
            </a:r>
            <a:endParaRPr sz="2800" b="1" dirty="0">
              <a:solidFill>
                <a:srgbClr val="FFC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76" y="0"/>
            <a:ext cx="9140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-74425" y="98150"/>
            <a:ext cx="11798149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36375" y="640550"/>
            <a:ext cx="5815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000" b="1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" panose="00000500000000000000"/>
              </a:rPr>
              <a:t>RUANG LINGKUP:</a:t>
            </a:r>
            <a:endParaRPr sz="2000" b="1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Montserrat" panose="00000500000000000000"/>
            </a:endParaRPr>
          </a:p>
        </p:txBody>
      </p:sp>
      <p:sp>
        <p:nvSpPr>
          <p:cNvPr id="2" name="Kotak Teks 46"/>
          <p:cNvSpPr txBox="1">
            <a:spLocks noGrp="1"/>
          </p:cNvSpPr>
          <p:nvPr>
            <p:ph type="body" idx="1"/>
          </p:nvPr>
        </p:nvSpPr>
        <p:spPr>
          <a:xfrm>
            <a:off x="456248" y="1213250"/>
            <a:ext cx="8058150" cy="337012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114300" indent="0" algn="just">
              <a:buNone/>
              <a:defRPr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Ruang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Lingkup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Konsultasi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Penerapan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Integrasi Sistem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Manajemen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BMK3LEn (Bisnis-Mutu-K3-Lingkungan-Energi) Refer to ISO 90012015, ISO 45001:2018, ISO 14001:2015,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PT.Well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Harvest Winning Alumina Refinery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dengan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ruang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lingkup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pengolahan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pemurnian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alumina, 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berlokasi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di </a:t>
            </a:r>
            <a:r>
              <a:rPr lang="en-ID" dirty="0" err="1"/>
              <a:t>Mekar</a:t>
            </a:r>
            <a:r>
              <a:rPr lang="en-ID" dirty="0"/>
              <a:t> Utama, </a:t>
            </a:r>
            <a:r>
              <a:rPr lang="en-ID" dirty="0" err="1"/>
              <a:t>Kec</a:t>
            </a:r>
            <a:r>
              <a:rPr lang="en-ID" dirty="0"/>
              <a:t>. </a:t>
            </a:r>
            <a:r>
              <a:rPr lang="en-ID" dirty="0" err="1"/>
              <a:t>Kendawangan</a:t>
            </a:r>
            <a:r>
              <a:rPr lang="en-ID" dirty="0"/>
              <a:t>, </a:t>
            </a:r>
            <a:r>
              <a:rPr lang="en-ID" dirty="0" err="1"/>
              <a:t>Kabupaten</a:t>
            </a:r>
            <a:r>
              <a:rPr lang="en-ID" dirty="0"/>
              <a:t> Ketapang, Kalimantan Barat 78862</a:t>
            </a:r>
            <a:endParaRPr lang="pt-BR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just">
              <a:buNone/>
              <a:defRPr/>
            </a:pPr>
            <a:r>
              <a:rPr lang="pt-B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Bimbingan konsultasi berdurasi 69 mandays, selama 6 – 7 bulan. </a:t>
            </a:r>
          </a:p>
          <a:p>
            <a:pPr marL="114300" indent="0" algn="just">
              <a:buNone/>
              <a:defRPr/>
            </a:pPr>
            <a:endParaRPr lang="pt-BR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just">
              <a:buNone/>
              <a:defRPr/>
            </a:pPr>
            <a:endParaRPr lang="pt-BR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 algn="just">
              <a:buNone/>
              <a:defRPr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566" y="114383"/>
            <a:ext cx="9140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-151408" y="-417201"/>
            <a:ext cx="9144003" cy="106316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 txBox="1"/>
          <p:nvPr/>
        </p:nvSpPr>
        <p:spPr>
          <a:xfrm>
            <a:off x="458637" y="-56275"/>
            <a:ext cx="3689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Investasi Program</a:t>
            </a:r>
            <a:endParaRPr sz="2400" b="1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251732"/>
              </p:ext>
            </p:extLst>
          </p:nvPr>
        </p:nvGraphicFramePr>
        <p:xfrm>
          <a:off x="936625" y="1295400"/>
          <a:ext cx="7323138" cy="346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6305402" imgH="2013001" progId="Excel.Sheet.8">
                  <p:embed/>
                </p:oleObj>
              </mc:Choice>
              <mc:Fallback>
                <p:oleObj name="Worksheet" r:id="rId5" imgW="6305402" imgH="2013001" progId="Excel.Shee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1295400"/>
                        <a:ext cx="7323138" cy="346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680216" y="615032"/>
            <a:ext cx="8152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kami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tawarkan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Integrasi ISO 9001:2015, ISO 45001:2018, ISO 14001:2015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PT.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berikut</a:t>
            </a:r>
            <a:r>
              <a:rPr lang="en-ID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776" y="0"/>
            <a:ext cx="9140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-74427" y="-12017"/>
            <a:ext cx="9144003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448780" y="1227451"/>
            <a:ext cx="809759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Belum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PPN 11%, badan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sertfikasi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TUV SUD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makan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siang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konsultan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dan auditor, Training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terkait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Keahlian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 K3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Google Shape;167;p24"/>
          <p:cNvSpPr txBox="1">
            <a:spLocks noGrp="1"/>
          </p:cNvSpPr>
          <p:nvPr>
            <p:ph type="title"/>
          </p:nvPr>
        </p:nvSpPr>
        <p:spPr>
          <a:xfrm>
            <a:off x="227013" y="477838"/>
            <a:ext cx="4887912" cy="573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60" b="1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Investasi Program</a:t>
            </a:r>
            <a:endParaRPr sz="1420" b="1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8" name="TextBox 66">
            <a:extLst>
              <a:ext uri="{FF2B5EF4-FFF2-40B4-BE49-F238E27FC236}">
                <a16:creationId xmlns:a16="http://schemas.microsoft.com/office/drawing/2014/main" id="{82948E92-70E6-4716-AF38-AFEFC8E23693}"/>
              </a:ext>
            </a:extLst>
          </p:cNvPr>
          <p:cNvSpPr txBox="1"/>
          <p:nvPr/>
        </p:nvSpPr>
        <p:spPr>
          <a:xfrm>
            <a:off x="448780" y="2165798"/>
            <a:ext cx="143941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Investasi</a:t>
            </a:r>
            <a:r>
              <a:rPr lang="en-US" sz="1400" b="1" u="sng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d-ID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Sudah Termasuk :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</a:p>
          <a:p>
            <a:pPr marL="177800" indent="-177800"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Spanduk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Standing Banner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Sosialisasi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Kick Off, masing-masing 1 unit</a:t>
            </a:r>
          </a:p>
          <a:p>
            <a:pPr marL="177800" indent="-177800"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Materi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Training dan E-Certificate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maksimal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25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peserta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</a:t>
            </a:r>
            <a:r>
              <a:rPr lang="en-US" sz="14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Didownload</a:t>
            </a:r>
            <a:r>
              <a:rPr lang="en-US" sz="14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14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" action="ppaction://noaction"/>
              </a:rPr>
              <a:t>Client Area - Sentral Sistem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Transportasi</a:t>
            </a:r>
            <a:r>
              <a:rPr lang="en-US" sz="14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Konsultan</a:t>
            </a:r>
            <a:r>
              <a:rPr lang="en-US" sz="14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1400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bila</a:t>
            </a:r>
            <a:r>
              <a:rPr lang="en-US" sz="14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aseline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1400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LOKASI</a:t>
            </a:r>
          </a:p>
          <a:p>
            <a:pPr marL="177800" indent="-177800" algn="just" eaLnBrk="1" fontAlgn="auto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milist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778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business-improvement@sentral-sistem.com;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78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quality-technique@sentral-sistem.com;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177800"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hse-community@sentral-sistem.com 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" y="0"/>
            <a:ext cx="9140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4425" y="21950"/>
            <a:ext cx="9144003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296871" y="582711"/>
            <a:ext cx="3689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6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Kondisi Lain-lain </a:t>
            </a:r>
            <a:endParaRPr sz="142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762F1-0FD9-0A2A-8744-5ADD442745AF}"/>
              </a:ext>
            </a:extLst>
          </p:cNvPr>
          <p:cNvSpPr txBox="1"/>
          <p:nvPr/>
        </p:nvSpPr>
        <p:spPr>
          <a:xfrm>
            <a:off x="618914" y="1080880"/>
            <a:ext cx="80975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6BCBB-85C3-521D-2FB5-2BD57D8EA20F}"/>
              </a:ext>
            </a:extLst>
          </p:cNvPr>
          <p:cNvSpPr txBox="1"/>
          <p:nvPr/>
        </p:nvSpPr>
        <p:spPr>
          <a:xfrm>
            <a:off x="535473" y="1248945"/>
            <a:ext cx="82644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2575" indent="-282575" algn="just" fontAlgn="auto">
              <a:spcAft>
                <a:spcPts val="0"/>
              </a:spcAft>
              <a:buFontTx/>
              <a:buAutoNum type="arabicPeriod"/>
              <a:defRPr/>
            </a:pPr>
            <a:r>
              <a:rPr lang="en-US" sz="1600" b="1" dirty="0">
                <a:latin typeface="Calibri" pitchFamily="34" charset="0"/>
              </a:rPr>
              <a:t>P</a:t>
            </a:r>
            <a:r>
              <a:rPr lang="id-ID" sz="1600" b="1" dirty="0">
                <a:latin typeface="Calibri" pitchFamily="34" charset="0"/>
              </a:rPr>
              <a:t>rogres Proyek</a:t>
            </a:r>
            <a:endParaRPr lang="id-ID" sz="1600" dirty="0">
              <a:latin typeface="Calibri" pitchFamily="34" charset="0"/>
            </a:endParaRPr>
          </a:p>
          <a:p>
            <a:pPr marL="282575" lvl="1" algn="just" eaLnBrk="0" hangingPunct="0">
              <a:buFont typeface="Arial" charset="0"/>
              <a:buNone/>
              <a:defRPr/>
            </a:pPr>
            <a:r>
              <a:rPr lang="en-US" sz="1600" dirty="0" err="1">
                <a:latin typeface="Calibri" pitchFamily="34" charset="0"/>
              </a:rPr>
              <a:t>Kami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akan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melaksanakan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proyek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dan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memenuhi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sasaran</a:t>
            </a:r>
            <a:r>
              <a:rPr lang="en-US" sz="1600" dirty="0">
                <a:latin typeface="Calibri" pitchFamily="34" charset="0"/>
              </a:rPr>
              <a:t> yang </a:t>
            </a:r>
            <a:r>
              <a:rPr lang="en-US" sz="1600" dirty="0" err="1">
                <a:latin typeface="Calibri" pitchFamily="34" charset="0"/>
              </a:rPr>
              <a:t>telah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disepakati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sesuai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dengan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waktu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dan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biaya</a:t>
            </a:r>
            <a:r>
              <a:rPr lang="en-US" sz="1600" dirty="0">
                <a:latin typeface="Calibri" pitchFamily="34" charset="0"/>
              </a:rPr>
              <a:t> yang </a:t>
            </a:r>
            <a:r>
              <a:rPr lang="en-US" sz="1600" dirty="0" err="1">
                <a:latin typeface="Calibri" pitchFamily="34" charset="0"/>
              </a:rPr>
              <a:t>telah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diajukan</a:t>
            </a:r>
            <a:r>
              <a:rPr lang="en-US" sz="1600" dirty="0">
                <a:latin typeface="Calibri" pitchFamily="34" charset="0"/>
              </a:rPr>
              <a:t>, </a:t>
            </a:r>
            <a:r>
              <a:rPr lang="en-US" sz="1600" dirty="0" err="1">
                <a:latin typeface="Calibri" pitchFamily="34" charset="0"/>
              </a:rPr>
              <a:t>dengan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asumsi</a:t>
            </a:r>
            <a:r>
              <a:rPr lang="en-US" sz="1600" dirty="0">
                <a:latin typeface="Calibri" pitchFamily="34" charset="0"/>
              </a:rPr>
              <a:t> :</a:t>
            </a:r>
          </a:p>
          <a:p>
            <a:pPr marL="730250" lvl="1" indent="-273050" algn="just" eaLnBrk="0" hangingPunct="0">
              <a:buFont typeface="Arial" pitchFamily="34" charset="0"/>
              <a:buChar char="•"/>
              <a:defRPr/>
            </a:pPr>
            <a:r>
              <a:rPr lang="en-US" sz="1600" dirty="0" err="1">
                <a:latin typeface="Calibri" pitchFamily="34" charset="0"/>
              </a:rPr>
              <a:t>Tidak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ada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penundaan</a:t>
            </a:r>
            <a:r>
              <a:rPr lang="en-US" sz="1600" dirty="0">
                <a:latin typeface="Calibri" pitchFamily="34" charset="0"/>
              </a:rPr>
              <a:t> program </a:t>
            </a:r>
            <a:r>
              <a:rPr lang="en-US" sz="1600" dirty="0" err="1">
                <a:latin typeface="Calibri" pitchFamily="34" charset="0"/>
              </a:rPr>
              <a:t>oleh</a:t>
            </a:r>
            <a:r>
              <a:rPr lang="en-US" sz="1600" dirty="0">
                <a:latin typeface="Calibri" pitchFamily="34" charset="0"/>
              </a:rPr>
              <a:t> team </a:t>
            </a:r>
            <a:r>
              <a:rPr lang="en-US" sz="1600" dirty="0" err="1">
                <a:latin typeface="Calibri" pitchFamily="34" charset="0"/>
              </a:rPr>
              <a:t>selama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proyek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berjalan</a:t>
            </a:r>
            <a:r>
              <a:rPr lang="en-US" sz="1600" dirty="0">
                <a:latin typeface="Calibri" pitchFamily="34" charset="0"/>
              </a:rPr>
              <a:t>.</a:t>
            </a:r>
          </a:p>
          <a:p>
            <a:pPr marL="730250" lvl="1" indent="-273050" algn="just" eaLnBrk="0" hangingPunct="0">
              <a:buFont typeface="Arial" pitchFamily="34" charset="0"/>
              <a:buChar char="•"/>
              <a:defRPr/>
            </a:pPr>
            <a:r>
              <a:rPr lang="en-US" sz="1600" dirty="0" err="1">
                <a:latin typeface="Calibri" pitchFamily="34" charset="0"/>
              </a:rPr>
              <a:t>Adanya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komitmen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dan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dukungan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penuh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en-US" sz="1600" dirty="0" err="1">
                <a:latin typeface="Calibri" pitchFamily="34" charset="0"/>
              </a:rPr>
              <a:t>dari</a:t>
            </a:r>
            <a:r>
              <a:rPr lang="en-US" sz="1600" dirty="0">
                <a:latin typeface="Calibri" pitchFamily="34" charset="0"/>
              </a:rPr>
              <a:t> Top </a:t>
            </a:r>
            <a:r>
              <a:rPr lang="en-US" sz="1600" dirty="0" err="1">
                <a:latin typeface="Calibri" pitchFamily="34" charset="0"/>
              </a:rPr>
              <a:t>Manajemen</a:t>
            </a:r>
            <a:endParaRPr lang="id-ID" sz="1600" dirty="0">
              <a:latin typeface="Calibri" pitchFamily="34" charset="0"/>
            </a:endParaRPr>
          </a:p>
          <a:p>
            <a:pPr marL="730250" lvl="1" indent="-273050" algn="just" eaLnBrk="0" hangingPunct="0">
              <a:buFont typeface="Arial" pitchFamily="34" charset="0"/>
              <a:buChar char="•"/>
              <a:defRPr/>
            </a:pPr>
            <a:r>
              <a:rPr lang="id-ID" sz="1600" dirty="0">
                <a:latin typeface="Calibri" pitchFamily="34" charset="0"/>
              </a:rPr>
              <a:t>Bertanggung jawab untuk menangani dokumentasi dengan bantuan dari konsultan.</a:t>
            </a:r>
          </a:p>
          <a:p>
            <a:pPr marL="730250" lvl="1" indent="-273050" algn="just" eaLnBrk="0" hangingPunct="0">
              <a:buFont typeface="Arial" pitchFamily="34" charset="0"/>
              <a:buChar char="•"/>
              <a:defRPr/>
            </a:pPr>
            <a:r>
              <a:rPr lang="en-ID" sz="16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PT.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Well Harvest Winning Alumina Refinery</a:t>
            </a:r>
            <a:r>
              <a:rPr lang="en-ID" sz="16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 </a:t>
            </a:r>
            <a:r>
              <a:rPr lang="id-ID" sz="1600" dirty="0">
                <a:latin typeface="Calibri" pitchFamily="34" charset="0"/>
              </a:rPr>
              <a:t>m</a:t>
            </a:r>
            <a:r>
              <a:rPr lang="fi-FI" sz="1600" dirty="0">
                <a:latin typeface="Calibri" pitchFamily="34" charset="0"/>
              </a:rPr>
              <a:t>enyediakan fasilitas kerja dan komunikasi seperti </a:t>
            </a:r>
            <a:r>
              <a:rPr lang="en-US" sz="1600" dirty="0" err="1">
                <a:latin typeface="Calibri" pitchFamily="34" charset="0"/>
              </a:rPr>
              <a:t>wifi</a:t>
            </a:r>
            <a:r>
              <a:rPr lang="en-US" sz="1600" dirty="0">
                <a:latin typeface="Calibri" pitchFamily="34" charset="0"/>
              </a:rPr>
              <a:t> </a:t>
            </a:r>
            <a:r>
              <a:rPr lang="id-ID" sz="1600" dirty="0">
                <a:latin typeface="Calibri" pitchFamily="34" charset="0"/>
              </a:rPr>
              <a:t>dan makan siang</a:t>
            </a:r>
            <a:r>
              <a:rPr lang="fi-FI" sz="1600" dirty="0">
                <a:latin typeface="Calibri" pitchFamily="34" charset="0"/>
              </a:rPr>
              <a:t> selama K</a:t>
            </a:r>
            <a:r>
              <a:rPr lang="id-ID" sz="1600" dirty="0">
                <a:latin typeface="Calibri" pitchFamily="34" charset="0"/>
              </a:rPr>
              <a:t>onsultan</a:t>
            </a:r>
            <a:r>
              <a:rPr lang="fi-FI" sz="1600" dirty="0">
                <a:latin typeface="Calibri" pitchFamily="34" charset="0"/>
              </a:rPr>
              <a:t> berada di </a:t>
            </a:r>
            <a:r>
              <a:rPr lang="id-ID" sz="1600" dirty="0">
                <a:latin typeface="Calibri" pitchFamily="34" charset="0"/>
              </a:rPr>
              <a:t>LOKASI.</a:t>
            </a:r>
          </a:p>
          <a:p>
            <a:pPr marL="730250" lvl="1" indent="-273050" algn="just" eaLnBrk="0" hangingPunct="0">
              <a:buFont typeface="Arial" pitchFamily="34" charset="0"/>
              <a:buChar char="•"/>
              <a:defRPr/>
            </a:pPr>
            <a:r>
              <a:rPr lang="en-ID" sz="16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PT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 </a:t>
            </a:r>
            <a:r>
              <a:rPr lang="fi-FI" sz="1600" dirty="0">
                <a:latin typeface="Calibri" pitchFamily="34" charset="0"/>
              </a:rPr>
              <a:t>akan mengalokasikan seluruh karyawannya dalam proyek ini, terutama yang memiliki pengetahuan yang baik dari masing – masing departemen</a:t>
            </a:r>
          </a:p>
          <a:p>
            <a:pPr lvl="1" algn="just" eaLnBrk="0" hangingPunct="0">
              <a:defRPr/>
            </a:pPr>
            <a:endParaRPr lang="id-ID" sz="1600" dirty="0">
              <a:latin typeface="Calibri" pitchFamily="34" charset="0"/>
            </a:endParaRPr>
          </a:p>
          <a:p>
            <a:pPr marL="273050" indent="-273050" algn="just" eaLnBrk="0" hangingPunct="0">
              <a:buFontTx/>
              <a:buAutoNum type="arabicPeriod" startAt="2"/>
              <a:defRPr/>
            </a:pPr>
            <a:r>
              <a:rPr lang="id-ID" sz="1600" b="1" dirty="0">
                <a:latin typeface="Calibri" pitchFamily="34" charset="0"/>
              </a:rPr>
              <a:t>Kerahasiaan </a:t>
            </a:r>
            <a:endParaRPr lang="id-ID" sz="1600" dirty="0">
              <a:latin typeface="Calibri" pitchFamily="34" charset="0"/>
            </a:endParaRPr>
          </a:p>
          <a:p>
            <a:pPr marL="273050" algn="just" eaLnBrk="0" hangingPunct="0">
              <a:defRPr/>
            </a:pPr>
            <a:r>
              <a:rPr lang="id-ID" sz="1600" dirty="0">
                <a:latin typeface="Calibri" pitchFamily="34" charset="0"/>
              </a:rPr>
              <a:t>Kedua belah pihak berkewajiban menjaga kerahasiaan data yang dimiliki masing-masing.</a:t>
            </a:r>
          </a:p>
          <a:p>
            <a:pPr marL="273050" indent="-177800" algn="just" eaLnBrk="0" hangingPunct="0">
              <a:defRPr/>
            </a:pPr>
            <a:endParaRPr lang="id-ID" sz="1600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7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" y="0"/>
            <a:ext cx="9140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4425" y="21950"/>
            <a:ext cx="9144003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296871" y="582711"/>
            <a:ext cx="3689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6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Kondisi Lain-lain </a:t>
            </a:r>
            <a:endParaRPr sz="142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762F1-0FD9-0A2A-8744-5ADD442745AF}"/>
              </a:ext>
            </a:extLst>
          </p:cNvPr>
          <p:cNvSpPr txBox="1"/>
          <p:nvPr/>
        </p:nvSpPr>
        <p:spPr>
          <a:xfrm>
            <a:off x="618914" y="1155411"/>
            <a:ext cx="80975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F6AFE-5602-38B1-257A-A1874B027872}"/>
              </a:ext>
            </a:extLst>
          </p:cNvPr>
          <p:cNvSpPr txBox="1"/>
          <p:nvPr/>
        </p:nvSpPr>
        <p:spPr>
          <a:xfrm>
            <a:off x="715271" y="1155411"/>
            <a:ext cx="8001234" cy="4024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0" hangingPunct="0">
              <a:buFont typeface="+mj-lt"/>
              <a:buAutoNum type="arabicPeriod" startAt="3"/>
              <a:defRPr/>
            </a:pPr>
            <a:r>
              <a:rPr lang="id-ID" sz="1450" b="1" dirty="0">
                <a:latin typeface="Calibri" pitchFamily="34" charset="0"/>
              </a:rPr>
              <a:t>Kode Etik Perusahaan</a:t>
            </a:r>
            <a:endParaRPr lang="id-ID" sz="1450" dirty="0">
              <a:latin typeface="Calibri" pitchFamily="34" charset="0"/>
            </a:endParaRPr>
          </a:p>
          <a:p>
            <a:pPr marL="273050" algn="just" eaLnBrk="0" hangingPunct="0">
              <a:defRPr/>
            </a:pPr>
            <a:r>
              <a:rPr lang="id-ID" sz="1450" dirty="0">
                <a:latin typeface="Calibri" pitchFamily="34" charset="0"/>
              </a:rPr>
              <a:t>Dalam rangka menjalin kerjasama yang saling menguntungkan antara </a:t>
            </a:r>
            <a:r>
              <a:rPr lang="en-ID" sz="14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PT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 </a:t>
            </a:r>
            <a:r>
              <a:rPr lang="id-ID" sz="1450" dirty="0">
                <a:latin typeface="Calibri" pitchFamily="34" charset="0"/>
              </a:rPr>
              <a:t>dan </a:t>
            </a:r>
            <a:r>
              <a:rPr lang="id-ID" sz="1450" b="1" dirty="0">
                <a:latin typeface="Calibri" pitchFamily="34" charset="0"/>
              </a:rPr>
              <a:t>SENTRAL SISTEM CONSULTIN</a:t>
            </a:r>
            <a:r>
              <a:rPr lang="en-ID" sz="1450" b="1" dirty="0">
                <a:latin typeface="Calibri" pitchFamily="34" charset="0"/>
              </a:rPr>
              <a:t>G</a:t>
            </a:r>
            <a:r>
              <a:rPr lang="en-US" sz="1450" b="1" dirty="0">
                <a:latin typeface="Calibri" pitchFamily="34" charset="0"/>
              </a:rPr>
              <a:t> (PT SENTRAL TEHNOLOGI MANAGEMEN)</a:t>
            </a:r>
            <a:r>
              <a:rPr lang="id-ID" sz="1450" dirty="0">
                <a:latin typeface="Calibri" pitchFamily="34" charset="0"/>
              </a:rPr>
              <a:t>, maka kedua belah pihak sepakat untuk tidak saling merekruit karyawan.</a:t>
            </a:r>
            <a:endParaRPr lang="en-US" sz="1450" dirty="0">
              <a:latin typeface="Calibri" pitchFamily="34" charset="0"/>
            </a:endParaRPr>
          </a:p>
          <a:p>
            <a:pPr marL="273050" algn="just" eaLnBrk="0" hangingPunct="0">
              <a:defRPr/>
            </a:pPr>
            <a:endParaRPr lang="en-US" sz="1450" dirty="0">
              <a:latin typeface="Calibri" pitchFamily="34" charset="0"/>
            </a:endParaRPr>
          </a:p>
          <a:p>
            <a:pPr marL="287338" indent="-287338" algn="just" eaLnBrk="0" hangingPunct="0">
              <a:defRPr/>
            </a:pPr>
            <a:r>
              <a:rPr lang="en-US" sz="1450" b="1" dirty="0">
                <a:latin typeface="Calibri" pitchFamily="34" charset="0"/>
              </a:rPr>
              <a:t>4.   </a:t>
            </a:r>
            <a:r>
              <a:rPr lang="en-US" sz="1450" b="1" dirty="0" err="1">
                <a:latin typeface="Calibri" pitchFamily="34" charset="0"/>
              </a:rPr>
              <a:t>Pembatalan</a:t>
            </a:r>
            <a:endParaRPr lang="en-US" sz="1450" b="1" dirty="0">
              <a:latin typeface="Calibri" pitchFamily="34" charset="0"/>
            </a:endParaRPr>
          </a:p>
          <a:p>
            <a:pPr marL="287338" lvl="1" algn="just" eaLnBrk="0" hangingPunct="0">
              <a:defRPr/>
            </a:pPr>
            <a:r>
              <a:rPr lang="en-US" sz="1450" dirty="0" err="1">
                <a:latin typeface="Calibri" pitchFamily="34" charset="0"/>
              </a:rPr>
              <a:t>Apabila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ID" sz="14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PT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 </a:t>
            </a:r>
            <a:r>
              <a:rPr lang="en-US" sz="1450" dirty="0" err="1">
                <a:latin typeface="Calibri" pitchFamily="34" charset="0"/>
              </a:rPr>
              <a:t>membatalkan</a:t>
            </a:r>
            <a:r>
              <a:rPr lang="en-US" sz="1450" dirty="0">
                <a:latin typeface="Calibri" pitchFamily="34" charset="0"/>
              </a:rPr>
              <a:t> program </a:t>
            </a:r>
            <a:r>
              <a:rPr lang="en-US" sz="1450" dirty="0" err="1">
                <a:latin typeface="Calibri" pitchFamily="34" charset="0"/>
              </a:rPr>
              <a:t>ini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setelah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penandatangan</a:t>
            </a:r>
            <a:r>
              <a:rPr lang="en-US" sz="1450" dirty="0">
                <a:latin typeface="Calibri" pitchFamily="34" charset="0"/>
              </a:rPr>
              <a:t> proposal dan </a:t>
            </a:r>
            <a:r>
              <a:rPr lang="en-US" sz="1450" dirty="0" err="1">
                <a:latin typeface="Calibri" pitchFamily="34" charset="0"/>
              </a:rPr>
              <a:t>sebelum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seluruh</a:t>
            </a:r>
            <a:r>
              <a:rPr lang="en-US" sz="1450" dirty="0">
                <a:latin typeface="Calibri" pitchFamily="34" charset="0"/>
              </a:rPr>
              <a:t> program </a:t>
            </a:r>
            <a:r>
              <a:rPr lang="en-US" sz="1450" dirty="0" err="1">
                <a:latin typeface="Calibri" pitchFamily="34" charset="0"/>
              </a:rPr>
              <a:t>dimulai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maka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b="1" dirty="0">
                <a:latin typeface="Calibri" pitchFamily="34" charset="0"/>
              </a:rPr>
              <a:t>PT SENTRAL TEHNOLOGI MANAGEMEN </a:t>
            </a:r>
            <a:r>
              <a:rPr lang="en-US" sz="1450" dirty="0" err="1">
                <a:latin typeface="Calibri" pitchFamily="34" charset="0"/>
              </a:rPr>
              <a:t>akan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mengenakan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biaya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administrasi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kepada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ID" sz="14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PT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 </a:t>
            </a:r>
            <a:r>
              <a:rPr lang="en-US" sz="1450" dirty="0" err="1">
                <a:latin typeface="Calibri" pitchFamily="34" charset="0"/>
              </a:rPr>
              <a:t>sebesar</a:t>
            </a:r>
            <a:r>
              <a:rPr lang="en-US" sz="1450" dirty="0">
                <a:latin typeface="Calibri" pitchFamily="34" charset="0"/>
              </a:rPr>
              <a:t> 10% </a:t>
            </a:r>
            <a:r>
              <a:rPr lang="en-US" sz="1450" dirty="0" err="1">
                <a:latin typeface="Calibri" pitchFamily="34" charset="0"/>
              </a:rPr>
              <a:t>dari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nilai</a:t>
            </a:r>
            <a:r>
              <a:rPr lang="en-US" sz="1450" dirty="0">
                <a:latin typeface="Calibri" pitchFamily="34" charset="0"/>
              </a:rPr>
              <a:t> Proposal.</a:t>
            </a:r>
          </a:p>
          <a:p>
            <a:pPr marL="287338" lvl="1" algn="just" eaLnBrk="0" hangingPunct="0">
              <a:defRPr/>
            </a:pPr>
            <a:endParaRPr lang="en-US" sz="1450" dirty="0">
              <a:latin typeface="Calibri" pitchFamily="34" charset="0"/>
            </a:endParaRPr>
          </a:p>
          <a:p>
            <a:pPr marL="342900" indent="-342900" algn="just" eaLnBrk="0" hangingPunct="0">
              <a:defRPr/>
            </a:pPr>
            <a:r>
              <a:rPr lang="en-US" sz="1450" b="1" dirty="0">
                <a:latin typeface="Calibri" pitchFamily="34" charset="0"/>
              </a:rPr>
              <a:t>5.	</a:t>
            </a:r>
            <a:r>
              <a:rPr lang="en-US" sz="1450" b="1" dirty="0" err="1">
                <a:latin typeface="Calibri" pitchFamily="34" charset="0"/>
              </a:rPr>
              <a:t>Pembayaran</a:t>
            </a:r>
            <a:endParaRPr lang="en-US" sz="1450" b="1" dirty="0">
              <a:latin typeface="Calibri" pitchFamily="34" charset="0"/>
            </a:endParaRPr>
          </a:p>
          <a:p>
            <a:pPr marL="573088" indent="-231775" algn="just">
              <a:buFont typeface="Wingdings" pitchFamily="2" charset="2"/>
              <a:buChar char="Ø"/>
              <a:tabLst>
                <a:tab pos="573088" algn="l"/>
                <a:tab pos="682625" algn="l"/>
              </a:tabLst>
              <a:defRPr/>
            </a:pPr>
            <a:r>
              <a:rPr lang="en-ID" sz="14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PT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 </a:t>
            </a:r>
            <a:r>
              <a:rPr lang="en-US" sz="1450" dirty="0" err="1">
                <a:latin typeface="Calibri" pitchFamily="34" charset="0"/>
              </a:rPr>
              <a:t>membayar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kepada</a:t>
            </a:r>
            <a:r>
              <a:rPr lang="en-US" sz="1450" dirty="0">
                <a:latin typeface="Calibri" pitchFamily="34" charset="0"/>
              </a:rPr>
              <a:t>  </a:t>
            </a:r>
            <a:r>
              <a:rPr lang="en-US" sz="1450" b="1" dirty="0">
                <a:latin typeface="Calibri" pitchFamily="34" charset="0"/>
              </a:rPr>
              <a:t>PT SENTRAL TEHNOLOGI MANAGEMEN </a:t>
            </a:r>
            <a:r>
              <a:rPr lang="id-ID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sesuai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Konsultasi</a:t>
            </a:r>
            <a:r>
              <a:rPr lang="en-US" sz="1450" dirty="0">
                <a:latin typeface="Calibri" pitchFamily="34" charset="0"/>
              </a:rPr>
              <a:t> yang </a:t>
            </a:r>
            <a:r>
              <a:rPr lang="en-US" sz="1450" dirty="0" err="1">
                <a:latin typeface="Calibri" pitchFamily="34" charset="0"/>
              </a:rPr>
              <a:t>telah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dilaksanakan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sesuai</a:t>
            </a:r>
            <a:r>
              <a:rPr lang="en-US" sz="1450" dirty="0">
                <a:latin typeface="Calibri" pitchFamily="34" charset="0"/>
              </a:rPr>
              <a:t> Point Term </a:t>
            </a:r>
            <a:r>
              <a:rPr lang="en-US" sz="1450" dirty="0" err="1">
                <a:latin typeface="Calibri" pitchFamily="34" charset="0"/>
              </a:rPr>
              <a:t>Pembayaran</a:t>
            </a:r>
            <a:r>
              <a:rPr lang="en-US" sz="1450" dirty="0">
                <a:latin typeface="Calibri" pitchFamily="34" charset="0"/>
              </a:rPr>
              <a:t> pada </a:t>
            </a:r>
            <a:r>
              <a:rPr lang="en-US" sz="1450" dirty="0" err="1">
                <a:latin typeface="Calibri" pitchFamily="34" charset="0"/>
              </a:rPr>
              <a:t>Investasi</a:t>
            </a:r>
            <a:r>
              <a:rPr lang="en-US" sz="1450" dirty="0">
                <a:latin typeface="Calibri" pitchFamily="34" charset="0"/>
              </a:rPr>
              <a:t> Program  dan </a:t>
            </a:r>
            <a:r>
              <a:rPr lang="en-US" sz="1450" dirty="0" err="1">
                <a:latin typeface="Calibri" pitchFamily="34" charset="0"/>
              </a:rPr>
              <a:t>dibayarkan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maksimal</a:t>
            </a:r>
            <a:r>
              <a:rPr lang="en-US" sz="1450" dirty="0">
                <a:latin typeface="Calibri" pitchFamily="34" charset="0"/>
              </a:rPr>
              <a:t> 14 (</a:t>
            </a:r>
            <a:r>
              <a:rPr lang="en-US" sz="1450" dirty="0" err="1">
                <a:latin typeface="Calibri" pitchFamily="34" charset="0"/>
              </a:rPr>
              <a:t>empat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belas</a:t>
            </a:r>
            <a:r>
              <a:rPr lang="en-US" sz="1450" dirty="0">
                <a:latin typeface="Calibri" pitchFamily="34" charset="0"/>
              </a:rPr>
              <a:t>) </a:t>
            </a:r>
            <a:r>
              <a:rPr lang="en-US" sz="1450" dirty="0" err="1">
                <a:latin typeface="Calibri" pitchFamily="34" charset="0"/>
              </a:rPr>
              <a:t>hari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setelah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menerima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tagihan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pembayaran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berupa</a:t>
            </a:r>
            <a:r>
              <a:rPr lang="en-US" sz="1450" dirty="0">
                <a:latin typeface="Calibri" pitchFamily="34" charset="0"/>
              </a:rPr>
              <a:t> : Invoice dan </a:t>
            </a:r>
            <a:r>
              <a:rPr lang="en-US" sz="1450" dirty="0" err="1">
                <a:latin typeface="Calibri" pitchFamily="34" charset="0"/>
              </a:rPr>
              <a:t>Faktur</a:t>
            </a:r>
            <a:r>
              <a:rPr lang="en-US" sz="1450" dirty="0">
                <a:latin typeface="Calibri" pitchFamily="34" charset="0"/>
              </a:rPr>
              <a:t> </a:t>
            </a:r>
            <a:r>
              <a:rPr lang="en-US" sz="1450" dirty="0" err="1">
                <a:latin typeface="Calibri" pitchFamily="34" charset="0"/>
              </a:rPr>
              <a:t>pajak</a:t>
            </a:r>
            <a:r>
              <a:rPr lang="en-US" sz="1450" dirty="0">
                <a:latin typeface="Calibri" pitchFamily="34" charset="0"/>
              </a:rPr>
              <a:t>.</a:t>
            </a:r>
          </a:p>
          <a:p>
            <a:pPr marL="273050" algn="just" eaLnBrk="0" hangingPunct="0">
              <a:defRPr/>
            </a:pPr>
            <a:endParaRPr lang="id-ID" sz="1450" dirty="0">
              <a:latin typeface="Canda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555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" y="0"/>
            <a:ext cx="9140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4425" y="21950"/>
            <a:ext cx="9144003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>
            <a:spLocks noGrp="1"/>
          </p:cNvSpPr>
          <p:nvPr>
            <p:ph type="title"/>
          </p:nvPr>
        </p:nvSpPr>
        <p:spPr>
          <a:xfrm>
            <a:off x="296871" y="582711"/>
            <a:ext cx="3689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6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Kondisi Lain-lain </a:t>
            </a:r>
            <a:endParaRPr sz="142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762F1-0FD9-0A2A-8744-5ADD442745AF}"/>
              </a:ext>
            </a:extLst>
          </p:cNvPr>
          <p:cNvSpPr txBox="1"/>
          <p:nvPr/>
        </p:nvSpPr>
        <p:spPr>
          <a:xfrm>
            <a:off x="618914" y="1080880"/>
            <a:ext cx="80975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53FDE-41E9-EC30-6F1F-37C90CF13DE5}"/>
              </a:ext>
            </a:extLst>
          </p:cNvPr>
          <p:cNvSpPr txBox="1"/>
          <p:nvPr/>
        </p:nvSpPr>
        <p:spPr>
          <a:xfrm>
            <a:off x="427495" y="1369470"/>
            <a:ext cx="828901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defRPr/>
            </a:pPr>
            <a:endParaRPr lang="en-US" sz="155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31775" algn="just" eaLnBrk="0" hangingPunct="0">
              <a:buFont typeface="Wingdings" pitchFamily="2" charset="2"/>
              <a:buChar char="Ø"/>
              <a:defRPr/>
            </a:pPr>
            <a:r>
              <a:rPr lang="en-US" sz="1550" dirty="0" err="1">
                <a:latin typeface="Calibri" panose="020F0502020204030204" pitchFamily="34" charset="0"/>
                <a:cs typeface="Calibri" panose="020F0502020204030204" pitchFamily="34" charset="0"/>
              </a:rPr>
              <a:t>Pembayaran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50" dirty="0" err="1">
                <a:latin typeface="Calibri" panose="020F0502020204030204" pitchFamily="34" charset="0"/>
                <a:cs typeface="Calibri" panose="020F0502020204030204" pitchFamily="34" charset="0"/>
              </a:rPr>
              <a:t>dilakukan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ID" sz="16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PT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 </a:t>
            </a:r>
            <a:r>
              <a:rPr lang="en-US" sz="1550" dirty="0" err="1">
                <a:latin typeface="Calibri" panose="020F0502020204030204" pitchFamily="34" charset="0"/>
                <a:cs typeface="Calibri" panose="020F0502020204030204" pitchFamily="34" charset="0"/>
              </a:rPr>
              <a:t>melalui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 transfer </a:t>
            </a:r>
            <a:r>
              <a:rPr lang="en-US" sz="1550" dirty="0" err="1">
                <a:latin typeface="Calibri" panose="020F0502020204030204" pitchFamily="34" charset="0"/>
                <a:cs typeface="Calibri" panose="020F0502020204030204" pitchFamily="34" charset="0"/>
              </a:rPr>
              <a:t>ke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50" dirty="0" err="1">
                <a:latin typeface="Calibri" panose="020F0502020204030204" pitchFamily="34" charset="0"/>
                <a:cs typeface="Calibri" panose="020F0502020204030204" pitchFamily="34" charset="0"/>
              </a:rPr>
              <a:t>Rekening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5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 nama </a:t>
            </a: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PT SENTRAL TEHNOLOGI MANAGEMEN di Bank BCA Cabang </a:t>
            </a:r>
            <a:r>
              <a:rPr lang="en-US" sz="1550" b="1" dirty="0" err="1">
                <a:latin typeface="Calibri" panose="020F0502020204030204" pitchFamily="34" charset="0"/>
                <a:cs typeface="Calibri" panose="020F0502020204030204" pitchFamily="34" charset="0"/>
              </a:rPr>
              <a:t>Tebet</a:t>
            </a: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 Barat Jakarta </a:t>
            </a:r>
            <a:r>
              <a:rPr lang="en-US" sz="1550" b="1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50" b="1" dirty="0" err="1">
                <a:latin typeface="Calibri" panose="020F0502020204030204" pitchFamily="34" charset="0"/>
                <a:cs typeface="Calibri" panose="020F0502020204030204" pitchFamily="34" charset="0"/>
              </a:rPr>
              <a:t>Nomor</a:t>
            </a: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Rekening</a:t>
            </a: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 : 436.300.5287</a:t>
            </a:r>
          </a:p>
          <a:p>
            <a:pPr marL="573088" indent="-231775" algn="just" eaLnBrk="0" hangingPunct="0">
              <a:buFont typeface="Wingdings" pitchFamily="2" charset="2"/>
              <a:buChar char="Ø"/>
              <a:defRPr/>
            </a:pPr>
            <a:endParaRPr lang="en-US" sz="155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 eaLnBrk="0" hangingPunct="0">
              <a:defRPr/>
            </a:pP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6.	</a:t>
            </a:r>
            <a:r>
              <a:rPr lang="id-ID" sz="1550" b="1" dirty="0">
                <a:latin typeface="Calibri" panose="020F0502020204030204" pitchFamily="34" charset="0"/>
                <a:cs typeface="Calibri" panose="020F0502020204030204" pitchFamily="34" charset="0"/>
              </a:rPr>
              <a:t>Pajak – Pajak</a:t>
            </a:r>
            <a:endParaRPr lang="id-ID" sz="15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31775" algn="just" eaLnBrk="0" hangingPunct="0">
              <a:buFont typeface="Wingdings" pitchFamily="2" charset="2"/>
              <a:buChar char="Ø"/>
              <a:defRPr/>
            </a:pPr>
            <a:r>
              <a:rPr lang="id-ID" sz="1550" b="1" dirty="0">
                <a:latin typeface="Calibri" panose="020F0502020204030204" pitchFamily="34" charset="0"/>
                <a:cs typeface="Calibri" panose="020F0502020204030204" pitchFamily="34" charset="0"/>
              </a:rPr>
              <a:t>PPN 1</a:t>
            </a:r>
            <a:r>
              <a:rPr lang="en-ID" sz="1550" b="1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id-ID" sz="1550" b="1" dirty="0">
                <a:latin typeface="Calibri" panose="020F0502020204030204" pitchFamily="34" charset="0"/>
                <a:cs typeface="Calibri" panose="020F0502020204030204" pitchFamily="34" charset="0"/>
              </a:rPr>
              <a:t> % </a:t>
            </a:r>
            <a:r>
              <a:rPr lang="id-ID" sz="1550" dirty="0">
                <a:latin typeface="Calibri" panose="020F0502020204030204" pitchFamily="34" charset="0"/>
                <a:cs typeface="Calibri" panose="020F0502020204030204" pitchFamily="34" charset="0"/>
              </a:rPr>
              <a:t>ditanggung oleh </a:t>
            </a:r>
            <a:r>
              <a:rPr lang="en-ID" sz="1600" b="1" dirty="0">
                <a:solidFill>
                  <a:schemeClr val="dk1"/>
                </a:solidFill>
                <a:latin typeface="Calibri" panose="020F0502020204030204" pitchFamily="34" charset="0"/>
                <a:ea typeface="Microsoft JhengHei UI Light" panose="020B0304030504040204" pitchFamily="34" charset="-120"/>
                <a:cs typeface="Calibri" panose="020F0502020204030204" pitchFamily="34" charset="0"/>
                <a:sym typeface="Roboto"/>
              </a:rPr>
              <a:t>PT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 </a:t>
            </a:r>
            <a:r>
              <a:rPr lang="id-ID" sz="1550" dirty="0">
                <a:latin typeface="Calibri" panose="020F0502020204030204" pitchFamily="34" charset="0"/>
                <a:cs typeface="Calibri" panose="020F0502020204030204" pitchFamily="34" charset="0"/>
              </a:rPr>
              <a:t>yang akan dibayarkan ke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PT SENTRAL TEHNOLOGI MANAGEMEN </a:t>
            </a:r>
            <a:r>
              <a:rPr lang="id-ID" sz="1550" dirty="0">
                <a:latin typeface="Calibri" panose="020F0502020204030204" pitchFamily="34" charset="0"/>
                <a:cs typeface="Calibri" panose="020F0502020204030204" pitchFamily="34" charset="0"/>
              </a:rPr>
              <a:t>dan kemudian akan disetorkan ke pajak ole</a:t>
            </a:r>
            <a:r>
              <a:rPr lang="en-ID" sz="1550" dirty="0">
                <a:latin typeface="Calibri" panose="020F0502020204030204" pitchFamily="34" charset="0"/>
                <a:cs typeface="Calibri" panose="020F0502020204030204" pitchFamily="34" charset="0"/>
              </a:rPr>
              <a:t>h                          </a:t>
            </a: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PT SENTRAL TEHNOLOGI MANAGEMEN </a:t>
            </a:r>
          </a:p>
          <a:p>
            <a:pPr marL="573088" indent="-231775" algn="just" eaLnBrk="0" hangingPunct="0">
              <a:defRPr/>
            </a:pPr>
            <a:endParaRPr lang="en-US" sz="15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95288" indent="-395288" algn="just" eaLnBrk="0" hangingPunct="0">
              <a:defRPr/>
            </a:pP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7.	</a:t>
            </a:r>
            <a:r>
              <a:rPr lang="id-ID" sz="1550" b="1" dirty="0">
                <a:latin typeface="Calibri" panose="020F0502020204030204" pitchFamily="34" charset="0"/>
                <a:cs typeface="Calibri" panose="020F0502020204030204" pitchFamily="34" charset="0"/>
              </a:rPr>
              <a:t>Jangka Waktu Penawaran</a:t>
            </a:r>
            <a:endParaRPr lang="id-ID" sz="15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95288" indent="-395288" algn="just" eaLnBrk="0" hangingPunct="0">
              <a:tabLst>
                <a:tab pos="177800" algn="l"/>
                <a:tab pos="395288" algn="l"/>
              </a:tabLst>
              <a:defRPr/>
            </a:pP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id-ID" sz="1550" dirty="0">
                <a:latin typeface="Calibri" panose="020F0502020204030204" pitchFamily="34" charset="0"/>
                <a:cs typeface="Calibri" panose="020F0502020204030204" pitchFamily="34" charset="0"/>
              </a:rPr>
              <a:t>Penawaran ini berlaku selama 3 Bulan (90 hari) sejak tanggal penawaran.</a:t>
            </a:r>
            <a:endParaRPr lang="en-US" sz="15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31775" algn="just" eaLnBrk="0" hangingPunct="0">
              <a:defRPr/>
            </a:pPr>
            <a:endParaRPr lang="en-US" sz="15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73088" indent="-231775" algn="just" eaLnBrk="0" hangingPunct="0">
              <a:defRPr/>
            </a:pPr>
            <a:endParaRPr lang="id-ID" sz="15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 eaLnBrk="0" hangingPunct="0">
              <a:defRPr/>
            </a:pP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273050" algn="just" eaLnBrk="0" hangingPunct="0">
              <a:defRPr/>
            </a:pPr>
            <a:endParaRPr lang="id-ID" sz="15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648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" y="0"/>
            <a:ext cx="914044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4425" y="21950"/>
            <a:ext cx="9144003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A762F1-0FD9-0A2A-8744-5ADD442745AF}"/>
              </a:ext>
            </a:extLst>
          </p:cNvPr>
          <p:cNvSpPr txBox="1"/>
          <p:nvPr/>
        </p:nvSpPr>
        <p:spPr>
          <a:xfrm>
            <a:off x="420251" y="1314914"/>
            <a:ext cx="83181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None/>
              <a:defRPr/>
            </a:pPr>
            <a:r>
              <a:rPr lang="id-ID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 SENTRAL TEHNOLOGI MANAGEMEN</a:t>
            </a:r>
            <a:r>
              <a:rPr lang="id-ID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bersedia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membicarakan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mengenai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masalah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teknikal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komersial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sehubungan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proposal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>
              <a:buFont typeface="Arial" panose="020B0604020202020204" pitchFamily="34" charset="0"/>
              <a:buNone/>
              <a:defRPr/>
            </a:pPr>
            <a:endParaRPr lang="id-ID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None/>
              <a:defRPr/>
            </a:pP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Pihak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d-ID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setuju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penawaran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126/STM/ES</a:t>
            </a:r>
            <a:r>
              <a:rPr lang="es-E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/VIII/25 </a:t>
            </a:r>
            <a:r>
              <a:rPr lang="es-ES" alt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id-ID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b="1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05 N</a:t>
            </a:r>
            <a:r>
              <a:rPr lang="es-ES" alt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ovember</a:t>
            </a:r>
            <a:r>
              <a:rPr lang="en-ID" b="1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  <a:r>
              <a:rPr lang="en-ID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2025,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silahkan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d-ID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Bapak/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menandatangani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persetujuan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Proposal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bentuk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persetujuan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kami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tawarkan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beserta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s-E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Google Shape;162;p26">
            <a:extLst>
              <a:ext uri="{FF2B5EF4-FFF2-40B4-BE49-F238E27FC236}">
                <a16:creationId xmlns:a16="http://schemas.microsoft.com/office/drawing/2014/main" id="{8BEB5F4B-6E41-EACD-8118-C6D209B415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5840" y="566954"/>
            <a:ext cx="5303005" cy="57308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60" b="1" dirty="0"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Montserrat"/>
              </a:rPr>
              <a:t>PERSETUJUAN PROPOSAL</a:t>
            </a:r>
            <a:endParaRPr sz="286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7C500F-AD7B-242E-FA40-A0937F9072DE}"/>
              </a:ext>
            </a:extLst>
          </p:cNvPr>
          <p:cNvSpPr txBox="1"/>
          <p:nvPr/>
        </p:nvSpPr>
        <p:spPr>
          <a:xfrm>
            <a:off x="420251" y="2707265"/>
            <a:ext cx="8154649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b="1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b="1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Jakarta, 05 N</a:t>
            </a:r>
            <a:r>
              <a:rPr lang="es-ES" alt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ovember</a:t>
            </a:r>
            <a:r>
              <a:rPr lang="en-ID" b="1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2025			                      Kalimantan,</a:t>
            </a:r>
          </a:p>
          <a:p>
            <a:pPr marL="0" lvl="0" indent="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b="1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b="1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b="1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 marL="0" lvl="0" indent="0" algn="just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b="1" u="sng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Erna Susanti</a:t>
            </a:r>
            <a:r>
              <a:rPr lang="en-ID" b="1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					</a:t>
            </a:r>
          </a:p>
          <a:p>
            <a:pPr lvl="0" algn="just">
              <a:spcBef>
                <a:spcPts val="500"/>
              </a:spcBef>
              <a:buClr>
                <a:schemeClr val="dk1"/>
              </a:buClr>
              <a:buSzPts val="1100"/>
            </a:pPr>
            <a:r>
              <a:rPr lang="en-ID" b="1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PT SENTRAL TEHNOLOGI MANAGEMEN             	PT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Well Harvest Winning Alumina Refinery</a:t>
            </a:r>
            <a:r>
              <a:rPr lang="en-ID" b="1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31A70670-386F-F9AB-4B13-93A8FF4D0FBA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420251" y="3330845"/>
            <a:ext cx="1719580" cy="77152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77943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 fontScale="90000"/>
          </a:bodyPr>
          <a:lstStyle/>
          <a:p>
            <a:pPr>
              <a:lnSpc>
                <a:spcPct val="100000"/>
              </a:lnSpc>
              <a:buSzPct val="111000"/>
            </a:pPr>
            <a:r>
              <a:rPr lang="en-ID"/>
              <a:t>SSSSS</a:t>
            </a:r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endParaRPr/>
          </a:p>
        </p:txBody>
      </p:sp>
      <p:pic>
        <p:nvPicPr>
          <p:cNvPr id="149" name="Google Shape;149;p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75245" y="548707"/>
            <a:ext cx="1794510" cy="179451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2"/>
          <p:cNvGrpSpPr/>
          <p:nvPr/>
        </p:nvGrpSpPr>
        <p:grpSpPr>
          <a:xfrm>
            <a:off x="4402777" y="2343217"/>
            <a:ext cx="3172178" cy="1794510"/>
            <a:chOff x="5769666" y="1768592"/>
            <a:chExt cx="3172178" cy="1794510"/>
          </a:xfrm>
        </p:grpSpPr>
        <p:sp>
          <p:nvSpPr>
            <p:cNvPr id="152" name="Google Shape;152;p12"/>
            <p:cNvSpPr/>
            <p:nvPr/>
          </p:nvSpPr>
          <p:spPr>
            <a:xfrm>
              <a:off x="5769666" y="1768592"/>
              <a:ext cx="3172178" cy="179451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89712"/>
                </a:gs>
                <a:gs pos="20000">
                  <a:srgbClr val="F89712"/>
                </a:gs>
                <a:gs pos="100000">
                  <a:srgbClr val="FE6613"/>
                </a:gs>
              </a:gsLst>
              <a:lin ang="4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53" name="Google Shape;153;p12"/>
            <p:cNvSpPr txBox="1"/>
            <p:nvPr/>
          </p:nvSpPr>
          <p:spPr>
            <a:xfrm>
              <a:off x="5975435" y="2096088"/>
              <a:ext cx="2856866" cy="1169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r>
                <a:rPr lang="en-ID" dirty="0">
                  <a:solidFill>
                    <a:schemeClr val="lt1"/>
                  </a:solidFill>
                  <a:latin typeface="Maiandra GD" panose="020E0502030308020204" pitchFamily="34" charset="0"/>
                  <a:ea typeface="Montserrat SemiBold" panose="00000700000000000000"/>
                  <a:cs typeface="Montserrat SemiBold" panose="00000700000000000000"/>
                  <a:sym typeface="Montserrat SemiBold" panose="00000700000000000000"/>
                </a:rPr>
                <a:t>Sales : Sinta</a:t>
              </a:r>
              <a:endParaRPr sz="1800" dirty="0">
                <a:latin typeface="Maiandra GD" panose="020E0502030308020204" pitchFamily="34" charset="0"/>
              </a:endParaRPr>
            </a:p>
            <a:p>
              <a:endParaRPr dirty="0">
                <a:solidFill>
                  <a:schemeClr val="lt1"/>
                </a:solidFill>
                <a:latin typeface="Maiandra GD" panose="020E0502030308020204" pitchFamily="34" charset="0"/>
                <a:ea typeface="Montserrat SemiBold" panose="00000700000000000000"/>
                <a:cs typeface="Montserrat SemiBold" panose="00000700000000000000"/>
                <a:sym typeface="Montserrat SemiBold" panose="00000700000000000000"/>
              </a:endParaRPr>
            </a:p>
            <a:p>
              <a:r>
                <a:rPr lang="en-ID" dirty="0">
                  <a:solidFill>
                    <a:schemeClr val="lt1"/>
                  </a:solidFill>
                  <a:latin typeface="Maiandra GD" panose="020E0502030308020204" pitchFamily="34" charset="0"/>
                  <a:ea typeface="Montserrat SemiBold" panose="00000700000000000000"/>
                  <a:cs typeface="Montserrat SemiBold" panose="00000700000000000000"/>
                  <a:sym typeface="Montserrat SemiBold" panose="00000700000000000000"/>
                </a:rPr>
                <a:t>Email : sinta@sentralsistem.com</a:t>
              </a:r>
              <a:endParaRPr sz="1800" dirty="0">
                <a:latin typeface="Maiandra GD" panose="020E0502030308020204" pitchFamily="34" charset="0"/>
              </a:endParaRPr>
            </a:p>
            <a:p>
              <a:endParaRPr dirty="0">
                <a:solidFill>
                  <a:schemeClr val="lt1"/>
                </a:solidFill>
                <a:latin typeface="Maiandra GD" panose="020E0502030308020204" pitchFamily="34" charset="0"/>
                <a:ea typeface="Montserrat SemiBold" panose="00000700000000000000"/>
                <a:cs typeface="Montserrat SemiBold" panose="00000700000000000000"/>
                <a:sym typeface="Montserrat SemiBold" panose="00000700000000000000"/>
              </a:endParaRPr>
            </a:p>
            <a:p>
              <a:r>
                <a:rPr lang="en-ID" dirty="0">
                  <a:solidFill>
                    <a:schemeClr val="lt1"/>
                  </a:solidFill>
                  <a:latin typeface="Maiandra GD" panose="020E0502030308020204" pitchFamily="34" charset="0"/>
                  <a:ea typeface="Montserrat SemiBold" panose="00000700000000000000"/>
                  <a:cs typeface="Montserrat SemiBold" panose="00000700000000000000"/>
                  <a:sym typeface="Montserrat SemiBold" panose="00000700000000000000"/>
                </a:rPr>
                <a:t>Phone : 081310610500</a:t>
              </a:r>
              <a:endParaRPr dirty="0">
                <a:solidFill>
                  <a:schemeClr val="lt1"/>
                </a:solidFill>
                <a:latin typeface="Maiandra GD" panose="020E0502030308020204" pitchFamily="34" charset="0"/>
                <a:ea typeface="Montserrat SemiBold" panose="00000700000000000000"/>
                <a:cs typeface="Montserrat SemiBold" panose="00000700000000000000"/>
                <a:sym typeface="Montserrat SemiBold" panose="0000070000000000000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070A8AA4-C971-108E-08FD-A352BD85E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" y="0"/>
            <a:ext cx="9140447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1269</Words>
  <Application>Microsoft Office PowerPoint</Application>
  <PresentationFormat>On-screen Show (16:9)</PresentationFormat>
  <Paragraphs>159</Paragraphs>
  <Slides>17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Montserrat ExtraBold</vt:lpstr>
      <vt:lpstr>Roboto</vt:lpstr>
      <vt:lpstr>Wingdings</vt:lpstr>
      <vt:lpstr>Maiandra GD</vt:lpstr>
      <vt:lpstr>Candara</vt:lpstr>
      <vt:lpstr>Arial</vt:lpstr>
      <vt:lpstr>Montserrat SemiBold</vt:lpstr>
      <vt:lpstr>Calibri</vt:lpstr>
      <vt:lpstr>Montserrat</vt:lpstr>
      <vt:lpstr>Simple Light</vt:lpstr>
      <vt:lpstr>Microsoft Excel 97-2003 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RUANG LINGKUP:</vt:lpstr>
      <vt:lpstr>PowerPoint Presentation</vt:lpstr>
      <vt:lpstr>Investasi Program</vt:lpstr>
      <vt:lpstr>Kondisi Lain-lain </vt:lpstr>
      <vt:lpstr>Kondisi Lain-lain </vt:lpstr>
      <vt:lpstr>Kondisi Lain-lain </vt:lpstr>
      <vt:lpstr>PERSETUJUAN PROPOSAL</vt:lpstr>
      <vt:lpstr>SSSSS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lenovoip330 s2</dc:creator>
  <cp:lastModifiedBy>Nagita_Susanti_Erna</cp:lastModifiedBy>
  <cp:revision>82</cp:revision>
  <cp:lastPrinted>2025-11-05T05:21:03Z</cp:lastPrinted>
  <dcterms:created xsi:type="dcterms:W3CDTF">2023-09-21T23:36:00Z</dcterms:created>
  <dcterms:modified xsi:type="dcterms:W3CDTF">2025-11-05T05:21:23Z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D16F0266667C4D6292651CE1648D307C_12</vt:lpwstr>
  </property>
  <property fmtid="{D5CDD505-2E9C-101B-9397-08002B2CF9AE}" pid="3" name="KSOProductBuildVer">
    <vt:lpwstr>1033-12.2.0.13215</vt:lpwstr>
  </property>
</Properties>
</file>