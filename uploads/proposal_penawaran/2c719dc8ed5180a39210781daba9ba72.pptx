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2"/>
  </p:notesMasterIdLst>
  <p:sldIdLst>
    <p:sldId id="349" r:id="rId4"/>
    <p:sldId id="347" r:id="rId5"/>
    <p:sldId id="350" r:id="rId6"/>
    <p:sldId id="351" r:id="rId7"/>
    <p:sldId id="353" r:id="rId8"/>
    <p:sldId id="360" r:id="rId9"/>
    <p:sldId id="622" r:id="rId10"/>
    <p:sldId id="34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4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C275FF9-FACB-41D3-82C5-4B49C0F013B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E673F4-2E5F-4E41-BFDF-907F90E3296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D7AE57D-7CC1-4AD1-A247-88D61476160E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EB9B0FC-870B-49B2-B6FB-FE7F626B1033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657274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C5F11EE-6599-4EE8-9635-5386935467E5}"/>
              </a:ext>
            </a:extLst>
          </p:cNvPr>
          <p:cNvGrpSpPr/>
          <p:nvPr userDrawn="1"/>
        </p:nvGrpSpPr>
        <p:grpSpPr>
          <a:xfrm>
            <a:off x="4934692" y="1876590"/>
            <a:ext cx="2297808" cy="4039426"/>
            <a:chOff x="445712" y="1449040"/>
            <a:chExt cx="2113018" cy="3924176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1DFBAA1A-A097-491A-AD06-5325C8670C73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6029E473-2071-4803-A8F4-17B7CDA8FA8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4AEF078B-F6E3-4B65-ACF1-AF9422CF21C6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69F4797F-2F94-405A-8428-3EC22B58449F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>
                <a:extLst>
                  <a:ext uri="{FF2B5EF4-FFF2-40B4-BE49-F238E27FC236}">
                    <a16:creationId xmlns:a16="http://schemas.microsoft.com/office/drawing/2014/main" id="{AFD20A30-03F4-4B69-8633-D3B8477EB21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2B02DD-4EDE-4522-9A61-986E7528E17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075352" y="2234767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3D4E7D2-26F4-457E-8E14-780B82CDE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6207BAF-BD62-487A-8475-7C750FC5A7D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2802353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A4D91E6-8283-4C22-9E1A-C3BC1679254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9354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6F000E-F7A9-4BCD-92D9-6FC81D765DE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9621348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5F1ACAB3-51BE-4E70-873B-1F132DCDBC6E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348350" y="2234764"/>
            <a:ext cx="2041298" cy="32368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8357B3-2E34-4F39-B756-E299CFBDC402}"/>
              </a:ext>
            </a:extLst>
          </p:cNvPr>
          <p:cNvSpPr/>
          <p:nvPr userDrawn="1"/>
        </p:nvSpPr>
        <p:spPr>
          <a:xfrm flipV="1">
            <a:off x="0" y="0"/>
            <a:ext cx="12192000" cy="3789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0A1D73-105E-4E5D-BD00-75D42F04E752}"/>
              </a:ext>
            </a:extLst>
          </p:cNvPr>
          <p:cNvGrpSpPr/>
          <p:nvPr userDrawn="1"/>
        </p:nvGrpSpPr>
        <p:grpSpPr>
          <a:xfrm>
            <a:off x="1457580" y="1983192"/>
            <a:ext cx="4076388" cy="22396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27DBBCB-4401-44ED-920A-12E7269E80B6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D0B6B57-56F4-406C-9CA7-A4CA5B11C797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3B956E-5D66-4307-A2E7-E9FA5B539907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EE92CA-899F-425C-A63B-36E12A1AA71F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8E0223-7544-400B-B4F2-41100156658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178527-EF95-4555-A5A4-23AE7F86184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D4E21D9A-AF31-4321-8ADB-4A220FB2662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CAD8977-4D75-4764-848B-BF5A1E80844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C0C7F0-18B7-478F-8D82-246AACAEF1E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2075E2C-D5F3-4994-8282-97D13D60859B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85D545D-D0E2-4968-9CEC-9F84CB82E84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A92790C-9439-4EAE-B4F7-C353D5D1A46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BAAF6B-FFDB-4CB4-850F-EB1CE4E4F138}"/>
              </a:ext>
            </a:extLst>
          </p:cNvPr>
          <p:cNvGrpSpPr/>
          <p:nvPr userDrawn="1"/>
        </p:nvGrpSpPr>
        <p:grpSpPr>
          <a:xfrm>
            <a:off x="6680577" y="1989916"/>
            <a:ext cx="4076388" cy="2239699"/>
            <a:chOff x="-548507" y="477868"/>
            <a:chExt cx="11570449" cy="635717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329497-4227-440D-98C7-6DCA3B2A7BC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C0F191-F14A-4820-A6C6-CBCDEF9CFAC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78A2B80-9D49-448D-BD5F-E304755EF67C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C0C66C-E1A9-4BFB-AF95-918B0BBE6EAF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DEDF813-7532-47B9-8AC1-5CB1835840ED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3EDB8C-3C97-404A-819A-F86077A38106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FF7EFF3-9E63-44EF-82BD-BF61948E594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856CE1D4-4324-46B5-9862-4ACBD471BC91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ACA75A2-3BBB-415E-83C9-CDB1341DD134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9387AC2E-20CE-4BBF-9978-D95C6D16ACA1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C753F6ED-377B-494A-9591-28D212149747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FB95D9-A3ED-416B-A272-948BBFD88505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그림 개체 틀 2">
            <a:extLst>
              <a:ext uri="{FF2B5EF4-FFF2-40B4-BE49-F238E27FC236}">
                <a16:creationId xmlns:a16="http://schemas.microsoft.com/office/drawing/2014/main" id="{BEEB3C91-BF69-4AA6-9705-3AA5D7BF45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05255" y="2088314"/>
            <a:ext cx="2985423" cy="181415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AEEB2A20-AC20-464C-ABB5-FE1AF559697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28252" y="2088314"/>
            <a:ext cx="2985423" cy="181415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B0E0310D-BC06-45A0-91EE-F18CBFD627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0090D03-6616-43B0-9ED5-58F40ABE2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79" r:id="rId6"/>
    <p:sldLayoutId id="2147483680" r:id="rId7"/>
    <p:sldLayoutId id="2147483682" r:id="rId8"/>
    <p:sldLayoutId id="2147483683" r:id="rId9"/>
    <p:sldLayoutId id="2147483684" r:id="rId10"/>
    <p:sldLayoutId id="2147483686" r:id="rId11"/>
    <p:sldLayoutId id="2147483687" r:id="rId12"/>
    <p:sldLayoutId id="2147483688" r:id="rId13"/>
    <p:sldLayoutId id="2147483671" r:id="rId14"/>
    <p:sldLayoutId id="214748367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1">
            <a:extLst>
              <a:ext uri="{FF2B5EF4-FFF2-40B4-BE49-F238E27FC236}">
                <a16:creationId xmlns:a16="http://schemas.microsoft.com/office/drawing/2014/main" id="{02DFC838-AC23-FA7B-FBDF-265BC1B1E060}"/>
              </a:ext>
            </a:extLst>
          </p:cNvPr>
          <p:cNvSpPr/>
          <p:nvPr/>
        </p:nvSpPr>
        <p:spPr>
          <a:xfrm>
            <a:off x="0" y="4797708"/>
            <a:ext cx="9279670" cy="2060292"/>
          </a:xfrm>
          <a:prstGeom prst="roundRect">
            <a:avLst>
              <a:gd name="adj" fmla="val 7507"/>
            </a:avLst>
          </a:prstGeom>
          <a:solidFill>
            <a:schemeClr val="bg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PROPOSAL </a:t>
            </a:r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TEKNIS PENDAMPINGAN PENERAPAN PROPER BIRU </a:t>
            </a:r>
          </a:p>
          <a:p>
            <a:pPr algn="ctr"/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(Program </a:t>
            </a:r>
            <a:r>
              <a:rPr lang="en-US" sz="1600" b="1" dirty="0" err="1">
                <a:solidFill>
                  <a:srgbClr val="323133"/>
                </a:solidFill>
                <a:latin typeface="Arial" panose="020B0604020202020204" pitchFamily="34" charset="0"/>
              </a:rPr>
              <a:t>Penilaian</a:t>
            </a:r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323133"/>
                </a:solidFill>
                <a:latin typeface="Arial" panose="020B0604020202020204" pitchFamily="34" charset="0"/>
              </a:rPr>
              <a:t>Peringkat</a:t>
            </a:r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 Kinerja Perusahaan Dalam </a:t>
            </a:r>
            <a:r>
              <a:rPr lang="en-US" sz="1600" b="1" dirty="0" err="1">
                <a:solidFill>
                  <a:srgbClr val="323133"/>
                </a:solidFill>
                <a:latin typeface="Arial" panose="020B0604020202020204" pitchFamily="34" charset="0"/>
              </a:rPr>
              <a:t>Pengelolaan</a:t>
            </a:r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323133"/>
                </a:solidFill>
                <a:latin typeface="Arial" panose="020B0604020202020204" pitchFamily="34" charset="0"/>
              </a:rPr>
              <a:t>Lingkungan</a:t>
            </a:r>
            <a:r>
              <a:rPr lang="en-US" sz="1600" b="1" dirty="0">
                <a:solidFill>
                  <a:srgbClr val="323133"/>
                </a:solidFill>
                <a:latin typeface="Arial" panose="020B0604020202020204" pitchFamily="34" charset="0"/>
              </a:rPr>
              <a:t> Hidup) </a:t>
            </a:r>
          </a:p>
          <a:p>
            <a:pPr algn="ctr"/>
            <a:r>
              <a:rPr lang="en-US" sz="2400" b="1" dirty="0">
                <a:solidFill>
                  <a:srgbClr val="323133"/>
                </a:solidFill>
                <a:latin typeface="Arial" panose="020B0604020202020204" pitchFamily="34" charset="0"/>
              </a:rPr>
              <a:t>SEKISUI POLYMATECH INDONESIA </a:t>
            </a:r>
          </a:p>
          <a:p>
            <a:pPr algn="ctr"/>
            <a:r>
              <a:rPr lang="en-US" sz="2400" b="1" dirty="0">
                <a:solidFill>
                  <a:srgbClr val="323133"/>
                </a:solidFill>
                <a:latin typeface="Arial" panose="020B0604020202020204" pitchFamily="34" charset="0"/>
              </a:rPr>
              <a:t>2025/2026</a:t>
            </a:r>
          </a:p>
          <a:p>
            <a:pPr algn="ctr"/>
            <a:r>
              <a:rPr lang="nn-NO" b="1" dirty="0">
                <a:solidFill>
                  <a:schemeClr val="tx1"/>
                </a:solidFill>
              </a:rPr>
              <a:t>No. 067/STM/ES-SK/IV/26</a:t>
            </a:r>
            <a:endParaRPr lang="en-US" sz="2400" b="1" dirty="0">
              <a:solidFill>
                <a:srgbClr val="323133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77BCA6-BDCF-0A3D-40BA-7E2E01BCA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2573" cy="105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7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F1F44DF-1433-4269-BAEB-1DB36164CCEA}"/>
              </a:ext>
            </a:extLst>
          </p:cNvPr>
          <p:cNvGrpSpPr/>
          <p:nvPr/>
        </p:nvGrpSpPr>
        <p:grpSpPr>
          <a:xfrm>
            <a:off x="4996054" y="438076"/>
            <a:ext cx="2888106" cy="780795"/>
            <a:chOff x="4745820" y="1491808"/>
            <a:chExt cx="2888106" cy="78079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F20684-B00B-40D7-981D-6E8499F2A4A1}"/>
                </a:ext>
              </a:extLst>
            </p:cNvPr>
            <p:cNvSpPr txBox="1"/>
            <p:nvPr/>
          </p:nvSpPr>
          <p:spPr>
            <a:xfrm>
              <a:off x="5713410" y="1666761"/>
              <a:ext cx="192051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Pendahuluan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F72FDF0-AFDB-4AAC-BA75-9A3E56F9F685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F76A61B-BBB3-4BC2-B00F-CACC2E9E478B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88E527-30EE-4E9A-A1C3-10BFAC66E2B8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21E8EB-FBF1-4A89-A789-BAAEF8C0740D}"/>
              </a:ext>
            </a:extLst>
          </p:cNvPr>
          <p:cNvGrpSpPr/>
          <p:nvPr/>
        </p:nvGrpSpPr>
        <p:grpSpPr>
          <a:xfrm>
            <a:off x="5431994" y="1551076"/>
            <a:ext cx="4311446" cy="780795"/>
            <a:chOff x="4745820" y="1491808"/>
            <a:chExt cx="4311446" cy="78079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652E34-3CBD-4896-9715-7FE950671F4F}"/>
                </a:ext>
              </a:extLst>
            </p:cNvPr>
            <p:cNvSpPr txBox="1"/>
            <p:nvPr/>
          </p:nvSpPr>
          <p:spPr>
            <a:xfrm>
              <a:off x="5732790" y="1659049"/>
              <a:ext cx="332447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Ruang </a:t>
              </a:r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Lingkup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Pekerjaan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C9D7DAD-71B3-4F89-90F9-C4587CC286C3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76CFD45-5BF4-4F7C-8D67-88D95359E801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2AC6DA-66C2-40A4-961B-03F1A65784F3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FB89279-087F-44F8-A447-C6EC9BFE2F1E}"/>
              </a:ext>
            </a:extLst>
          </p:cNvPr>
          <p:cNvGrpSpPr/>
          <p:nvPr/>
        </p:nvGrpSpPr>
        <p:grpSpPr>
          <a:xfrm>
            <a:off x="5623380" y="2664076"/>
            <a:ext cx="4120060" cy="780795"/>
            <a:chOff x="4745820" y="1491808"/>
            <a:chExt cx="4120060" cy="78079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7CB427-32B9-437D-9B10-9AD4C098AFBE}"/>
                </a:ext>
              </a:extLst>
            </p:cNvPr>
            <p:cNvSpPr txBox="1"/>
            <p:nvPr/>
          </p:nvSpPr>
          <p:spPr>
            <a:xfrm>
              <a:off x="5742415" y="1698223"/>
              <a:ext cx="3123465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Metodologi</a:t>
              </a:r>
              <a:r>
                <a:rPr lang="en-US" altLang="ko-KR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Pekerjaan</a:t>
              </a:r>
              <a:endParaRPr lang="ko-KR" altLang="en-US" b="1" i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75D2B13-BD99-40B8-B665-10830ACD7788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1A66CFE-D30D-4D12-B97B-DBA73318A59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DC8021-A97F-4B92-845E-F69F9FE188A7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6DB1565-13FD-456B-8604-FC1457FE88BE}"/>
              </a:ext>
            </a:extLst>
          </p:cNvPr>
          <p:cNvGrpSpPr/>
          <p:nvPr/>
        </p:nvGrpSpPr>
        <p:grpSpPr>
          <a:xfrm>
            <a:off x="5431994" y="3777076"/>
            <a:ext cx="5002326" cy="780795"/>
            <a:chOff x="4745820" y="1491808"/>
            <a:chExt cx="5002326" cy="78079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C92517-61F6-4A0E-9425-ECA293932074}"/>
                </a:ext>
              </a:extLst>
            </p:cNvPr>
            <p:cNvSpPr txBox="1"/>
            <p:nvPr/>
          </p:nvSpPr>
          <p:spPr>
            <a:xfrm>
              <a:off x="5724120" y="1701875"/>
              <a:ext cx="402402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Rancangan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Anggaran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Biaya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(RAB)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E248F8C-69AD-4F08-98A4-6900867E2D8D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2CE9A34-59D5-46D1-9BA1-3537E61016A0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20A6781-2F35-44C0-A653-3BC28C0A0E1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E893-A0FF-5B95-1EB1-EE71073E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01B670-6C65-C2D2-9F84-DC4A8414A337}"/>
              </a:ext>
            </a:extLst>
          </p:cNvPr>
          <p:cNvSpPr txBox="1"/>
          <p:nvPr/>
        </p:nvSpPr>
        <p:spPr>
          <a:xfrm>
            <a:off x="136526" y="439845"/>
            <a:ext cx="3697420" cy="6771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800" b="1" dirty="0" err="1">
                <a:latin typeface="+mj-lt"/>
                <a:cs typeface="Arial" pitchFamily="34" charset="0"/>
              </a:rPr>
              <a:t>Latar</a:t>
            </a:r>
            <a:r>
              <a:rPr lang="en-US" altLang="ko-KR" sz="3800" b="1" dirty="0">
                <a:latin typeface="+mj-lt"/>
                <a:cs typeface="Arial" pitchFamily="34" charset="0"/>
              </a:rPr>
              <a:t> </a:t>
            </a:r>
            <a:r>
              <a:rPr lang="en-US" altLang="ko-KR" sz="3800" b="1" dirty="0" err="1">
                <a:latin typeface="+mj-lt"/>
                <a:cs typeface="Arial" pitchFamily="34" charset="0"/>
              </a:rPr>
              <a:t>Belakang</a:t>
            </a:r>
            <a:endParaRPr lang="ko-KR" altLang="en-US" sz="3800" b="1" dirty="0">
              <a:latin typeface="+mj-lt"/>
              <a:cs typeface="Arial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5CAA41-85C0-63B2-0B45-D42AC2BD0BAF}"/>
              </a:ext>
            </a:extLst>
          </p:cNvPr>
          <p:cNvSpPr/>
          <p:nvPr/>
        </p:nvSpPr>
        <p:spPr>
          <a:xfrm>
            <a:off x="3805645" y="392903"/>
            <a:ext cx="8152675" cy="6092957"/>
          </a:xfrm>
          <a:prstGeom prst="roundRect">
            <a:avLst>
              <a:gd name="adj" fmla="val 3776"/>
            </a:avLst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E85A3-615C-7EDD-BEA8-D83F4DDAD82C}"/>
              </a:ext>
            </a:extLst>
          </p:cNvPr>
          <p:cNvSpPr txBox="1"/>
          <p:nvPr/>
        </p:nvSpPr>
        <p:spPr>
          <a:xfrm>
            <a:off x="3732346" y="493425"/>
            <a:ext cx="8032934" cy="5869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indent="495300" algn="just">
              <a:lnSpc>
                <a:spcPct val="150000"/>
              </a:lnSpc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Program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Peringkat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Kinerja Perusahaan Dalam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Hidup (PROPER)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merupakan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salah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satu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instrumen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hidup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oleh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pemerintah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Indonesia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yaitu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melakukan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kinerja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terhadap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pemenuhan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aspek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Pengendalian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Pencemaran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(PPA),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Pengendalian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Pencemaran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Udara (PPU),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Limbah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B3 (PLB3),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B3 (Bahan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Berbahaya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Beracun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PROPER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khusus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Perusahaan yang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ditunjuk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Perusahaan yang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memiliki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dampak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terhadap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hidup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25425" indent="495300" algn="just">
              <a:lnSpc>
                <a:spcPct val="150000"/>
              </a:lnSpc>
              <a:buNone/>
            </a:pP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PROPER Biru yang </a:t>
            </a:r>
            <a:r>
              <a:rPr lang="en-US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oleh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Kementerian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Hidup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2018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terintegrasi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Pelaporan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Elektronik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Hidup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(SIMPEL).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Kriteria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PROPER Biru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dipenuhi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diantaranya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Pengendalian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Pencemaran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Air (PPA),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Pengendalian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Pencemaran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Udara (PPU),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Limbah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B3 (PLB3),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B3 (Bahan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Berbahaya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Beracun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Sedangkan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penilaian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PROPER Hijau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Permen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LHK No. 1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2021.</a:t>
            </a:r>
          </a:p>
          <a:p>
            <a:pPr marL="225425" indent="495300" algn="just">
              <a:lnSpc>
                <a:spcPct val="150000"/>
              </a:lnSpc>
              <a:buNone/>
            </a:pPr>
            <a:r>
              <a:rPr lang="en-GB" sz="14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SENTRAL SUSTAINABILITY (PT SENTRAL TEHNOLOGI MANAGEMEN)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sebagai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provider yang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fokus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terhadap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pengelolaan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lingkungan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menawarkan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program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untuk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melakukan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Pendampingan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Penilaian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PROPER BIRU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di Sekisui </a:t>
            </a:r>
            <a:r>
              <a:rPr lang="en-GB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Polymatech</a:t>
            </a:r>
            <a:r>
              <a:rPr lang="en-GB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Indonesia,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untuk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memastikan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pencapaian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target Perusahaan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terhadap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Penilaian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PROPER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BIRU </a:t>
            </a:r>
            <a:endParaRPr lang="en-ID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260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530A-514B-5EC9-49A1-BC627189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D3718-88F4-C873-5F00-C8DE1D08EC1E}"/>
              </a:ext>
            </a:extLst>
          </p:cNvPr>
          <p:cNvSpPr txBox="1"/>
          <p:nvPr/>
        </p:nvSpPr>
        <p:spPr>
          <a:xfrm>
            <a:off x="248286" y="403710"/>
            <a:ext cx="3697420" cy="18466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800" b="1" dirty="0">
                <a:latin typeface="+mj-lt"/>
                <a:cs typeface="Arial" pitchFamily="34" charset="0"/>
              </a:rPr>
              <a:t>Ruang </a:t>
            </a:r>
            <a:r>
              <a:rPr lang="en-US" altLang="ko-KR" sz="3800" b="1" dirty="0" err="1">
                <a:latin typeface="+mj-lt"/>
                <a:cs typeface="Arial" pitchFamily="34" charset="0"/>
              </a:rPr>
              <a:t>Lingkup</a:t>
            </a:r>
            <a:r>
              <a:rPr lang="en-US" altLang="ko-KR" sz="3800" b="1" dirty="0">
                <a:latin typeface="+mj-lt"/>
                <a:cs typeface="Arial" pitchFamily="34" charset="0"/>
              </a:rPr>
              <a:t> </a:t>
            </a:r>
            <a:r>
              <a:rPr lang="en-US" altLang="ko-KR" sz="3800" b="1" dirty="0" err="1">
                <a:latin typeface="+mj-lt"/>
                <a:cs typeface="Arial" pitchFamily="34" charset="0"/>
              </a:rPr>
              <a:t>Pekerjaan</a:t>
            </a:r>
            <a:endParaRPr lang="ko-KR" altLang="en-US" sz="3800" b="1" dirty="0">
              <a:latin typeface="+mj-lt"/>
              <a:cs typeface="Arial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4E87ED-A9E3-537F-E0C3-C0F310AA0886}"/>
              </a:ext>
            </a:extLst>
          </p:cNvPr>
          <p:cNvSpPr/>
          <p:nvPr/>
        </p:nvSpPr>
        <p:spPr>
          <a:xfrm>
            <a:off x="3805645" y="392903"/>
            <a:ext cx="7824651" cy="6092957"/>
          </a:xfrm>
          <a:prstGeom prst="roundRect">
            <a:avLst>
              <a:gd name="adj" fmla="val 3776"/>
            </a:avLst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AFD35-24B9-E015-BDFF-E39B83F5E138}"/>
              </a:ext>
            </a:extLst>
          </p:cNvPr>
          <p:cNvSpPr txBox="1"/>
          <p:nvPr/>
        </p:nvSpPr>
        <p:spPr>
          <a:xfrm>
            <a:off x="3945706" y="493959"/>
            <a:ext cx="7565574" cy="2920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200" dirty="0"/>
              <a:t>Ruang </a:t>
            </a:r>
            <a:r>
              <a:rPr lang="en-ID" sz="1200" dirty="0" err="1"/>
              <a:t>lingkup</a:t>
            </a:r>
            <a:r>
              <a:rPr lang="en-ID" sz="1200" dirty="0"/>
              <a:t> </a:t>
            </a:r>
            <a:r>
              <a:rPr lang="en-ID" sz="1200" dirty="0" err="1"/>
              <a:t>Umum</a:t>
            </a:r>
            <a:r>
              <a:rPr lang="en-ID" sz="1200" dirty="0"/>
              <a:t> </a:t>
            </a:r>
            <a:r>
              <a:rPr lang="en-ID" sz="1200" dirty="0" err="1"/>
              <a:t>Pekerjaan</a:t>
            </a:r>
            <a:r>
              <a:rPr lang="en-ID" sz="1200" dirty="0"/>
              <a:t> </a:t>
            </a:r>
            <a:r>
              <a:rPr lang="en-GB" sz="12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Pendampingan</a:t>
            </a:r>
            <a:r>
              <a:rPr lang="en-GB" sz="12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2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Penilaian</a:t>
            </a:r>
            <a:r>
              <a:rPr lang="en-GB" sz="12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PROPER </a:t>
            </a:r>
            <a:r>
              <a:rPr lang="en-GB" sz="12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Hijau </a:t>
            </a:r>
            <a:r>
              <a:rPr lang="en-GB" sz="12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diantaranya</a:t>
            </a:r>
            <a:r>
              <a:rPr lang="en-GB" sz="12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 </a:t>
            </a:r>
            <a:endParaRPr lang="en-US" sz="1200" dirty="0"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400" dirty="0">
              <a:cs typeface="Arial" pitchFamily="34" charset="0"/>
            </a:endParaRPr>
          </a:p>
          <a:p>
            <a:pPr marL="355600" indent="-355600" algn="just">
              <a:lnSpc>
                <a:spcPct val="150000"/>
              </a:lnSpc>
              <a:buFont typeface="+mj-lt"/>
              <a:buAutoNum type="arabicPeriod"/>
            </a:pPr>
            <a:r>
              <a:rPr lang="en-ID" sz="1200" i="1" dirty="0"/>
              <a:t>Gap Analysis </a:t>
            </a:r>
            <a:r>
              <a:rPr lang="en-ID" sz="1200" dirty="0" err="1"/>
              <a:t>Pemenuhan</a:t>
            </a:r>
            <a:r>
              <a:rPr lang="en-ID" sz="1200" dirty="0"/>
              <a:t> PROPER BIRU </a:t>
            </a:r>
            <a:endParaRPr lang="en-ID" sz="1200" i="1" dirty="0"/>
          </a:p>
          <a:p>
            <a:pPr marL="355600" indent="-3556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D" sz="1200" dirty="0" err="1"/>
              <a:t>Pengisian</a:t>
            </a:r>
            <a:r>
              <a:rPr lang="en-ID" sz="1200" dirty="0"/>
              <a:t> SIMPEL :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A. DOKUMEN LINGKUNGAN (RKL-RPL RINCI)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B. PENGENDALIAN PENCEMARAN UDARA (PPU)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C. PENGENDALIAN PENCEMARAN AIR (PPA)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D. KETENTUAN TEKNIS LIMBAH B3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E. BAHAN BERBAHAYA DAN BERACUN (B3)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	D. PENGELOLAAN SAMPAH </a:t>
            </a:r>
          </a:p>
          <a:p>
            <a:pPr algn="just">
              <a:lnSpc>
                <a:spcPct val="150000"/>
              </a:lnSpc>
            </a:pPr>
            <a:r>
              <a:rPr lang="en-ID" sz="1200" dirty="0"/>
              <a:t>4. </a:t>
            </a:r>
            <a:r>
              <a:rPr lang="en-ID" sz="1200" dirty="0" err="1"/>
              <a:t>Pendampingan</a:t>
            </a:r>
            <a:r>
              <a:rPr lang="en-ID" sz="1200" dirty="0"/>
              <a:t> </a:t>
            </a:r>
            <a:r>
              <a:rPr lang="en-ID" sz="1200" dirty="0" err="1"/>
              <a:t>Sanggahan</a:t>
            </a:r>
            <a:r>
              <a:rPr lang="en-ID" sz="1200" dirty="0"/>
              <a:t> PROPER </a:t>
            </a:r>
            <a:r>
              <a:rPr lang="en-ID" sz="1200" dirty="0" err="1"/>
              <a:t>menuju</a:t>
            </a:r>
            <a:r>
              <a:rPr lang="en-ID" sz="1200" dirty="0"/>
              <a:t> BIRU </a:t>
            </a:r>
          </a:p>
        </p:txBody>
      </p:sp>
    </p:spTree>
    <p:extLst>
      <p:ext uri="{BB962C8B-B14F-4D97-AF65-F5344CB8AC3E}">
        <p14:creationId xmlns:p14="http://schemas.microsoft.com/office/powerpoint/2010/main" val="131735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D269-EF40-7500-2097-3C7E0C9C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8A5D0-EA9D-D80C-42AA-58BF63346613}"/>
              </a:ext>
            </a:extLst>
          </p:cNvPr>
          <p:cNvSpPr txBox="1"/>
          <p:nvPr/>
        </p:nvSpPr>
        <p:spPr>
          <a:xfrm>
            <a:off x="248286" y="378885"/>
            <a:ext cx="7300594" cy="6771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800" b="1" dirty="0" err="1">
                <a:latin typeface="+mj-lt"/>
                <a:cs typeface="Arial" pitchFamily="34" charset="0"/>
              </a:rPr>
              <a:t>Metodologi</a:t>
            </a:r>
            <a:r>
              <a:rPr lang="en-US" altLang="ko-KR" sz="3800" b="1" dirty="0">
                <a:latin typeface="+mj-lt"/>
                <a:cs typeface="Arial" pitchFamily="34" charset="0"/>
              </a:rPr>
              <a:t> </a:t>
            </a:r>
            <a:r>
              <a:rPr lang="en-US" altLang="ko-KR" sz="3800" b="1" dirty="0" err="1">
                <a:latin typeface="+mj-lt"/>
                <a:cs typeface="Arial" pitchFamily="34" charset="0"/>
              </a:rPr>
              <a:t>Pekerjaan</a:t>
            </a:r>
            <a:endParaRPr lang="ko-KR" altLang="en-US" sz="3800" b="1" dirty="0">
              <a:latin typeface="+mj-lt"/>
              <a:cs typeface="Arial" pitchFamily="34" charset="0"/>
            </a:endParaRP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6FDAA1A5-09CC-E0D4-F005-7BA740FF9DEA}"/>
              </a:ext>
            </a:extLst>
          </p:cNvPr>
          <p:cNvSpPr/>
          <p:nvPr/>
        </p:nvSpPr>
        <p:spPr>
          <a:xfrm>
            <a:off x="6314468" y="1659110"/>
            <a:ext cx="4976385" cy="124733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3D4DDF74-EFF0-F059-D948-E39FA67F41DC}"/>
              </a:ext>
            </a:extLst>
          </p:cNvPr>
          <p:cNvSpPr/>
          <p:nvPr/>
        </p:nvSpPr>
        <p:spPr>
          <a:xfrm>
            <a:off x="6314468" y="4236504"/>
            <a:ext cx="4976385" cy="962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C125F4-009B-8CEA-467D-D5DC3B80F76A}"/>
              </a:ext>
            </a:extLst>
          </p:cNvPr>
          <p:cNvCxnSpPr>
            <a:cxnSpLocks/>
          </p:cNvCxnSpPr>
          <p:nvPr/>
        </p:nvCxnSpPr>
        <p:spPr>
          <a:xfrm flipV="1">
            <a:off x="4143470" y="2300196"/>
            <a:ext cx="2170998" cy="142473"/>
          </a:xfrm>
          <a:prstGeom prst="straightConnector1">
            <a:avLst/>
          </a:prstGeom>
          <a:ln w="38100">
            <a:solidFill>
              <a:schemeClr val="accent3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390289-F4C7-0D5A-5700-101A29A911FB}"/>
              </a:ext>
            </a:extLst>
          </p:cNvPr>
          <p:cNvGrpSpPr/>
          <p:nvPr/>
        </p:nvGrpSpPr>
        <p:grpSpPr>
          <a:xfrm>
            <a:off x="1386773" y="1304932"/>
            <a:ext cx="3348000" cy="3348000"/>
            <a:chOff x="2514579" y="1730962"/>
            <a:chExt cx="4068000" cy="406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C36453-2F10-738D-CFA0-ACBBA0405161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Pie 14">
              <a:extLst>
                <a:ext uri="{FF2B5EF4-FFF2-40B4-BE49-F238E27FC236}">
                  <a16:creationId xmlns:a16="http://schemas.microsoft.com/office/drawing/2014/main" id="{5C4B19A8-EF22-84EF-20A0-D02662854655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pie">
              <a:avLst>
                <a:gd name="adj1" fmla="val 16145699"/>
                <a:gd name="adj2" fmla="val 4626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3AAE41-06BE-6F8C-5424-CBC3A045E160}"/>
              </a:ext>
            </a:extLst>
          </p:cNvPr>
          <p:cNvGrpSpPr/>
          <p:nvPr/>
        </p:nvGrpSpPr>
        <p:grpSpPr>
          <a:xfrm>
            <a:off x="1746773" y="1664932"/>
            <a:ext cx="2628000" cy="2628000"/>
            <a:chOff x="2514579" y="1730962"/>
            <a:chExt cx="4068000" cy="406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4C6FD6-1D51-7FD5-D561-2F7B9C2D8853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" name="Pie 18">
              <a:extLst>
                <a:ext uri="{FF2B5EF4-FFF2-40B4-BE49-F238E27FC236}">
                  <a16:creationId xmlns:a16="http://schemas.microsoft.com/office/drawing/2014/main" id="{4BDB44AE-087C-6F96-1D90-BB5D89470476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pie">
              <a:avLst>
                <a:gd name="adj1" fmla="val 16176551"/>
                <a:gd name="adj2" fmla="val 52779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4CAB94-5802-5831-66C6-B1AB0AA24030}"/>
              </a:ext>
            </a:extLst>
          </p:cNvPr>
          <p:cNvGrpSpPr/>
          <p:nvPr/>
        </p:nvGrpSpPr>
        <p:grpSpPr>
          <a:xfrm>
            <a:off x="2106773" y="2024932"/>
            <a:ext cx="1908000" cy="1908000"/>
            <a:chOff x="2514579" y="1730962"/>
            <a:chExt cx="4068000" cy="406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F40D229-E501-E313-3BCE-29D80A9473A6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1" name="Pie 21">
              <a:extLst>
                <a:ext uri="{FF2B5EF4-FFF2-40B4-BE49-F238E27FC236}">
                  <a16:creationId xmlns:a16="http://schemas.microsoft.com/office/drawing/2014/main" id="{CA22016F-3338-4DDD-AE6D-7D6976B3781E}"/>
                </a:ext>
              </a:extLst>
            </p:cNvPr>
            <p:cNvSpPr/>
            <p:nvPr/>
          </p:nvSpPr>
          <p:spPr>
            <a:xfrm>
              <a:off x="2514579" y="1730962"/>
              <a:ext cx="4068000" cy="4068000"/>
            </a:xfrm>
            <a:prstGeom prst="pie">
              <a:avLst>
                <a:gd name="adj1" fmla="val 16115061"/>
                <a:gd name="adj2" fmla="val 799925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08DF1C32-9BBB-ADFC-C458-22D56C249AD6}"/>
              </a:ext>
            </a:extLst>
          </p:cNvPr>
          <p:cNvSpPr/>
          <p:nvPr/>
        </p:nvSpPr>
        <p:spPr>
          <a:xfrm>
            <a:off x="2466773" y="2384932"/>
            <a:ext cx="1188000" cy="1188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7000"/>
                </a:schemeClr>
              </a:gs>
              <a:gs pos="100000">
                <a:schemeClr val="bg1"/>
              </a:gs>
            </a:gsLst>
            <a:lin ang="8100000" scaled="1"/>
            <a:tileRect/>
          </a:gra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Elbow Connector 23">
            <a:extLst>
              <a:ext uri="{FF2B5EF4-FFF2-40B4-BE49-F238E27FC236}">
                <a16:creationId xmlns:a16="http://schemas.microsoft.com/office/drawing/2014/main" id="{096D5389-9F09-F9A2-9CBD-2348A525A2FC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2530754" y="3755312"/>
            <a:ext cx="3783714" cy="962387"/>
          </a:xfrm>
          <a:prstGeom prst="bentConnector3">
            <a:avLst>
              <a:gd name="adj1" fmla="val 99031"/>
            </a:avLst>
          </a:prstGeom>
          <a:ln w="38100">
            <a:solidFill>
              <a:schemeClr val="accent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75081C-BF58-F567-FE15-7260B4F4C664}"/>
              </a:ext>
            </a:extLst>
          </p:cNvPr>
          <p:cNvGrpSpPr/>
          <p:nvPr/>
        </p:nvGrpSpPr>
        <p:grpSpPr>
          <a:xfrm>
            <a:off x="7264214" y="1668396"/>
            <a:ext cx="3873576" cy="1438987"/>
            <a:chOff x="6210998" y="1362575"/>
            <a:chExt cx="2688349" cy="14389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97C996-6E9B-8675-BC8B-311630C580ED}"/>
                </a:ext>
              </a:extLst>
            </p:cNvPr>
            <p:cNvSpPr txBox="1"/>
            <p:nvPr/>
          </p:nvSpPr>
          <p:spPr>
            <a:xfrm>
              <a:off x="6210998" y="1362575"/>
              <a:ext cx="26883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cs typeface="Arial" pitchFamily="34" charset="0"/>
                </a:rPr>
                <a:t>Observasi</a:t>
              </a:r>
              <a:r>
                <a:rPr lang="en-US" altLang="ko-KR" sz="1200" b="1" dirty="0">
                  <a:cs typeface="Arial" pitchFamily="34" charset="0"/>
                </a:rPr>
                <a:t> dan </a:t>
              </a:r>
              <a:r>
                <a:rPr lang="en-US" altLang="ko-KR" sz="1200" b="1" dirty="0" err="1">
                  <a:cs typeface="Arial" pitchFamily="34" charset="0"/>
                </a:rPr>
                <a:t>Pemantauan</a:t>
              </a:r>
              <a:r>
                <a:rPr lang="en-US" altLang="ko-KR" sz="1200" b="1" dirty="0">
                  <a:cs typeface="Arial" pitchFamily="34" charset="0"/>
                </a:rPr>
                <a:t> </a:t>
              </a:r>
              <a:r>
                <a:rPr lang="en-US" altLang="ko-KR" sz="1200" b="1" dirty="0" err="1">
                  <a:cs typeface="Arial" pitchFamily="34" charset="0"/>
                </a:rPr>
                <a:t>Lingkungan</a:t>
              </a:r>
              <a:endParaRPr lang="ko-KR" altLang="en-US" sz="1200" b="1" dirty="0"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834A62-D6C4-C5EA-0E95-E3B8D2630D66}"/>
                </a:ext>
              </a:extLst>
            </p:cNvPr>
            <p:cNvSpPr txBox="1"/>
            <p:nvPr/>
          </p:nvSpPr>
          <p:spPr>
            <a:xfrm>
              <a:off x="6210998" y="1601233"/>
              <a:ext cx="26883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Melakukan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i="1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gap analysis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kondisi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Perusahaan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untuk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semua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aspek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penilaian</a:t>
              </a:r>
              <a:endParaRPr lang="en-US" sz="1200" kern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Pembuatan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rekomendasi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untuk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perbaikan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peningkatan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pengelolaan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lingkungan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khususnya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aspek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penilaian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proper</a:t>
              </a:r>
              <a:endParaRPr lang="en-US" sz="1200" kern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200" kern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EF8C52-FB20-6B65-B025-FFB8EE102B5A}"/>
              </a:ext>
            </a:extLst>
          </p:cNvPr>
          <p:cNvGrpSpPr/>
          <p:nvPr/>
        </p:nvGrpSpPr>
        <p:grpSpPr>
          <a:xfrm>
            <a:off x="7264214" y="4328697"/>
            <a:ext cx="3827856" cy="576617"/>
            <a:chOff x="6210998" y="1433695"/>
            <a:chExt cx="2688349" cy="576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078D65-3525-C1E0-033B-8848E6E00627}"/>
                </a:ext>
              </a:extLst>
            </p:cNvPr>
            <p:cNvSpPr txBox="1"/>
            <p:nvPr/>
          </p:nvSpPr>
          <p:spPr>
            <a:xfrm>
              <a:off x="6210998" y="1433695"/>
              <a:ext cx="26883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cs typeface="Arial" pitchFamily="34" charset="0"/>
                </a:rPr>
                <a:t>Pengisian</a:t>
              </a:r>
              <a:r>
                <a:rPr lang="en-US" altLang="ko-KR" sz="1200" b="1" dirty="0">
                  <a:cs typeface="Arial" pitchFamily="34" charset="0"/>
                </a:rPr>
                <a:t> </a:t>
              </a:r>
              <a:r>
                <a:rPr lang="en-US" altLang="ko-KR" sz="1200" b="1" dirty="0" err="1">
                  <a:cs typeface="Arial" pitchFamily="34" charset="0"/>
                </a:rPr>
                <a:t>Laporan</a:t>
              </a:r>
              <a:r>
                <a:rPr lang="en-US" altLang="ko-KR" sz="1200" b="1" dirty="0">
                  <a:cs typeface="Arial" pitchFamily="34" charset="0"/>
                </a:rPr>
                <a:t> </a:t>
              </a:r>
              <a:r>
                <a:rPr lang="en-US" altLang="ko-KR" sz="1200" b="1" dirty="0" err="1">
                  <a:cs typeface="Arial" pitchFamily="34" charset="0"/>
                </a:rPr>
                <a:t>ke</a:t>
              </a:r>
              <a:r>
                <a:rPr lang="en-US" altLang="ko-KR" sz="1200" b="1" dirty="0">
                  <a:cs typeface="Arial" pitchFamily="34" charset="0"/>
                </a:rPr>
                <a:t> SIMPEL </a:t>
              </a:r>
              <a:endParaRPr lang="ko-KR" altLang="en-US" sz="1200" b="1" dirty="0"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910A514-138B-B423-4230-3E701F4089BF}"/>
                </a:ext>
              </a:extLst>
            </p:cNvPr>
            <p:cNvSpPr txBox="1"/>
            <p:nvPr/>
          </p:nvSpPr>
          <p:spPr>
            <a:xfrm>
              <a:off x="6210998" y="1733313"/>
              <a:ext cx="26883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Font typeface="Wingdings" panose="05000000000000000000" pitchFamily="2" charset="2"/>
                <a:buNone/>
              </a:pP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Pengisian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Laporan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ke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Sistem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Informasi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Laporan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Elektronik </a:t>
              </a:r>
            </a:p>
          </p:txBody>
        </p:sp>
      </p:grpSp>
      <p:sp>
        <p:nvSpPr>
          <p:cNvPr id="33" name="Rectangle 9">
            <a:extLst>
              <a:ext uri="{FF2B5EF4-FFF2-40B4-BE49-F238E27FC236}">
                <a16:creationId xmlns:a16="http://schemas.microsoft.com/office/drawing/2014/main" id="{9CD566D2-CE2B-4CD0-873F-AAA0F6FF86CE}"/>
              </a:ext>
            </a:extLst>
          </p:cNvPr>
          <p:cNvSpPr/>
          <p:nvPr/>
        </p:nvSpPr>
        <p:spPr>
          <a:xfrm>
            <a:off x="6693656" y="4563942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ound Same Side Corner Rectangle 11">
            <a:extLst>
              <a:ext uri="{FF2B5EF4-FFF2-40B4-BE49-F238E27FC236}">
                <a16:creationId xmlns:a16="http://schemas.microsoft.com/office/drawing/2014/main" id="{1E97C155-07E0-C2F2-0F33-171DC54B064A}"/>
              </a:ext>
            </a:extLst>
          </p:cNvPr>
          <p:cNvSpPr>
            <a:spLocks noChangeAspect="1"/>
          </p:cNvSpPr>
          <p:nvPr/>
        </p:nvSpPr>
        <p:spPr>
          <a:xfrm rot="9900000">
            <a:off x="6660386" y="2258740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Rounded Rectangle 51">
            <a:extLst>
              <a:ext uri="{FF2B5EF4-FFF2-40B4-BE49-F238E27FC236}">
                <a16:creationId xmlns:a16="http://schemas.microsoft.com/office/drawing/2014/main" id="{B31FCC92-7719-895F-D8A7-8749903D6A07}"/>
              </a:ext>
            </a:extLst>
          </p:cNvPr>
          <p:cNvSpPr/>
          <p:nvPr/>
        </p:nvSpPr>
        <p:spPr>
          <a:xfrm rot="16200000" flipH="1">
            <a:off x="2807826" y="2724158"/>
            <a:ext cx="541062" cy="509551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DFAECF9-9BD7-6D40-8457-33A647C28993}"/>
              </a:ext>
            </a:extLst>
          </p:cNvPr>
          <p:cNvSpPr/>
          <p:nvPr/>
        </p:nvSpPr>
        <p:spPr>
          <a:xfrm>
            <a:off x="6161405" y="3048629"/>
            <a:ext cx="4976385" cy="9623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19A618-A16F-8984-6D9B-1DC4B354B29E}"/>
              </a:ext>
            </a:extLst>
          </p:cNvPr>
          <p:cNvCxnSpPr/>
          <p:nvPr/>
        </p:nvCxnSpPr>
        <p:spPr>
          <a:xfrm>
            <a:off x="4302034" y="3429000"/>
            <a:ext cx="1793966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0F67FA4-ADA5-961F-B72C-F7BFAF9D6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148" y="3236836"/>
            <a:ext cx="585971" cy="58597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C07CA47-41A9-39D0-FD6F-51056D25E2E6}"/>
              </a:ext>
            </a:extLst>
          </p:cNvPr>
          <p:cNvGrpSpPr/>
          <p:nvPr/>
        </p:nvGrpSpPr>
        <p:grpSpPr>
          <a:xfrm>
            <a:off x="7098448" y="3161462"/>
            <a:ext cx="3873576" cy="884989"/>
            <a:chOff x="6210998" y="1362575"/>
            <a:chExt cx="2688349" cy="88498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A4AC625-5A7F-EED9-1346-3B1147A3E032}"/>
                </a:ext>
              </a:extLst>
            </p:cNvPr>
            <p:cNvSpPr txBox="1"/>
            <p:nvPr/>
          </p:nvSpPr>
          <p:spPr>
            <a:xfrm>
              <a:off x="6210998" y="1362575"/>
              <a:ext cx="26883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cs typeface="Arial" pitchFamily="34" charset="0"/>
                </a:rPr>
                <a:t>Pendampingan</a:t>
              </a:r>
              <a:r>
                <a:rPr lang="en-US" altLang="ko-KR" sz="1200" b="1" dirty="0">
                  <a:cs typeface="Arial" pitchFamily="34" charset="0"/>
                </a:rPr>
                <a:t> </a:t>
              </a:r>
              <a:r>
                <a:rPr lang="en-US" altLang="ko-KR" sz="1200" b="1" dirty="0" err="1">
                  <a:cs typeface="Arial" pitchFamily="34" charset="0"/>
                </a:rPr>
                <a:t>Sanggahan</a:t>
              </a:r>
              <a:r>
                <a:rPr lang="en-US" altLang="ko-KR" sz="1200" b="1" dirty="0">
                  <a:cs typeface="Arial" pitchFamily="34" charset="0"/>
                </a:rPr>
                <a:t> PROPER</a:t>
              </a:r>
              <a:endParaRPr lang="ko-KR" altLang="en-US" sz="1200" b="1" dirty="0"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0A6799-3B36-BD6E-4F23-8F610D091AA5}"/>
                </a:ext>
              </a:extLst>
            </p:cNvPr>
            <p:cNvSpPr txBox="1"/>
            <p:nvPr/>
          </p:nvSpPr>
          <p:spPr>
            <a:xfrm>
              <a:off x="6210998" y="1601233"/>
              <a:ext cx="26883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sz="1200" kern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Melakukan</a:t>
              </a:r>
              <a:r>
                <a:rPr lang="en-US" sz="1200" kern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pendampingan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Sanggahan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PROPER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dengan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KLHK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ataupun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DLH </a:t>
              </a:r>
              <a:r>
                <a:rPr lang="en-US" sz="1200" dirty="0" err="1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Provinsi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US" sz="1200" kern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200" kern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197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6399-CE5D-2782-E897-A3A3164A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D77B43-5C64-58EE-4C89-B8815D10F917}"/>
              </a:ext>
            </a:extLst>
          </p:cNvPr>
          <p:cNvSpPr/>
          <p:nvPr/>
        </p:nvSpPr>
        <p:spPr>
          <a:xfrm>
            <a:off x="335280" y="1057184"/>
            <a:ext cx="11490960" cy="5587456"/>
          </a:xfrm>
          <a:prstGeom prst="roundRect">
            <a:avLst>
              <a:gd name="adj" fmla="val 2093"/>
            </a:avLst>
          </a:prstGeom>
          <a:solidFill>
            <a:schemeClr val="accent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77DD2-7D22-70D0-3994-FB8248EA90F6}"/>
              </a:ext>
            </a:extLst>
          </p:cNvPr>
          <p:cNvSpPr txBox="1"/>
          <p:nvPr/>
        </p:nvSpPr>
        <p:spPr>
          <a:xfrm>
            <a:off x="156846" y="272353"/>
            <a:ext cx="1194371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/>
              <a:t>RANCANGAN ANGGARAN BIAYA</a:t>
            </a:r>
          </a:p>
          <a:p>
            <a:pPr algn="ctr"/>
            <a:r>
              <a:rPr lang="en-US" altLang="ko-KR" b="1" dirty="0">
                <a:latin typeface="+mj-lt"/>
                <a:cs typeface="Arial" pitchFamily="34" charset="0"/>
              </a:rPr>
              <a:t>Program </a:t>
            </a:r>
            <a:r>
              <a:rPr lang="en-GB" b="1" dirty="0" err="1">
                <a:latin typeface="+mj-lt"/>
                <a:cs typeface="Arial" pitchFamily="34" charset="0"/>
              </a:rPr>
              <a:t>Pendampingan</a:t>
            </a:r>
            <a:r>
              <a:rPr lang="en-GB" b="1" dirty="0">
                <a:latin typeface="+mj-lt"/>
                <a:cs typeface="Arial" pitchFamily="34" charset="0"/>
              </a:rPr>
              <a:t> </a:t>
            </a:r>
            <a:r>
              <a:rPr lang="en-GB" b="1" dirty="0" err="1">
                <a:latin typeface="+mj-lt"/>
                <a:cs typeface="Arial" pitchFamily="34" charset="0"/>
              </a:rPr>
              <a:t>Penilaian</a:t>
            </a:r>
            <a:r>
              <a:rPr lang="en-GB" b="1" dirty="0">
                <a:latin typeface="+mj-lt"/>
                <a:cs typeface="Arial" pitchFamily="34" charset="0"/>
              </a:rPr>
              <a:t> PROPER BIRU  </a:t>
            </a:r>
            <a:endParaRPr lang="ko-KR" altLang="en-US" b="1" dirty="0">
              <a:latin typeface="+mj-lt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896D6-E7A1-6654-27E7-339622C39989}"/>
              </a:ext>
            </a:extLst>
          </p:cNvPr>
          <p:cNvSpPr txBox="1"/>
          <p:nvPr/>
        </p:nvSpPr>
        <p:spPr>
          <a:xfrm>
            <a:off x="557786" y="6136809"/>
            <a:ext cx="4510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*</a:t>
            </a:r>
            <a:r>
              <a:rPr lang="en-US" sz="1200" dirty="0" err="1">
                <a:solidFill>
                  <a:srgbClr val="FF0000"/>
                </a:solidFill>
              </a:rPr>
              <a:t>Biaya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belum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termasuk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pengujian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lingkungan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tiap</a:t>
            </a:r>
            <a:r>
              <a:rPr lang="en-US" sz="1200" dirty="0">
                <a:solidFill>
                  <a:srgbClr val="FF0000"/>
                </a:solidFill>
              </a:rPr>
              <a:t> semester </a:t>
            </a:r>
            <a:r>
              <a:rPr lang="en-US" sz="1200" dirty="0" err="1">
                <a:solidFill>
                  <a:srgbClr val="FF0000"/>
                </a:solidFill>
              </a:rPr>
              <a:t>nya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  <a:p>
            <a:r>
              <a:rPr lang="en-US" sz="1200" dirty="0">
                <a:solidFill>
                  <a:srgbClr val="FF0000"/>
                </a:solidFill>
              </a:rPr>
              <a:t>**Belum </a:t>
            </a:r>
            <a:r>
              <a:rPr lang="en-US" sz="1200" dirty="0" err="1">
                <a:solidFill>
                  <a:srgbClr val="FF0000"/>
                </a:solidFill>
              </a:rPr>
              <a:t>termasuk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ppn</a:t>
            </a:r>
            <a:r>
              <a:rPr lang="en-US" sz="1200" dirty="0">
                <a:solidFill>
                  <a:srgbClr val="FF0000"/>
                </a:solidFill>
              </a:rPr>
              <a:t> 11%</a:t>
            </a:r>
          </a:p>
          <a:p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E90969-16D6-C8B1-AF59-4D8436195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75837"/>
              </p:ext>
            </p:extLst>
          </p:nvPr>
        </p:nvGraphicFramePr>
        <p:xfrm>
          <a:off x="557786" y="1197606"/>
          <a:ext cx="10232134" cy="49134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677">
                  <a:extLst>
                    <a:ext uri="{9D8B030D-6E8A-4147-A177-3AD203B41FA5}">
                      <a16:colId xmlns:a16="http://schemas.microsoft.com/office/drawing/2014/main" val="864283788"/>
                    </a:ext>
                  </a:extLst>
                </a:gridCol>
                <a:gridCol w="4166862">
                  <a:extLst>
                    <a:ext uri="{9D8B030D-6E8A-4147-A177-3AD203B41FA5}">
                      <a16:colId xmlns:a16="http://schemas.microsoft.com/office/drawing/2014/main" val="3383250021"/>
                    </a:ext>
                  </a:extLst>
                </a:gridCol>
                <a:gridCol w="1094000">
                  <a:extLst>
                    <a:ext uri="{9D8B030D-6E8A-4147-A177-3AD203B41FA5}">
                      <a16:colId xmlns:a16="http://schemas.microsoft.com/office/drawing/2014/main" val="1475827410"/>
                    </a:ext>
                  </a:extLst>
                </a:gridCol>
                <a:gridCol w="1174442">
                  <a:extLst>
                    <a:ext uri="{9D8B030D-6E8A-4147-A177-3AD203B41FA5}">
                      <a16:colId xmlns:a16="http://schemas.microsoft.com/office/drawing/2014/main" val="425354192"/>
                    </a:ext>
                  </a:extLst>
                </a:gridCol>
                <a:gridCol w="1737532">
                  <a:extLst>
                    <a:ext uri="{9D8B030D-6E8A-4147-A177-3AD203B41FA5}">
                      <a16:colId xmlns:a16="http://schemas.microsoft.com/office/drawing/2014/main" val="3404883097"/>
                    </a:ext>
                  </a:extLst>
                </a:gridCol>
                <a:gridCol w="1753621">
                  <a:extLst>
                    <a:ext uri="{9D8B030D-6E8A-4147-A177-3AD203B41FA5}">
                      <a16:colId xmlns:a16="http://schemas.microsoft.com/office/drawing/2014/main" val="3770711681"/>
                    </a:ext>
                  </a:extLst>
                </a:gridCol>
              </a:tblGrid>
              <a:tr h="14674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I. Biaya Langsung Personil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2205664889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208084726"/>
                  </a:ext>
                </a:extLst>
              </a:tr>
              <a:tr h="14674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Pengisian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SIMPEL dan Update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Regulasi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2289432532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No.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Kegiatan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Jumlah Orang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Mandays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Harga Satuan (Rp)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Jumlah Harga (Rp)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470869070"/>
                  </a:ext>
                </a:extLst>
              </a:tr>
              <a:tr h="205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Pengisian SIMPEL UKL UPL (Semester 2 2025 - 1 2026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FREE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36881"/>
                  </a:ext>
                </a:extLst>
              </a:tr>
              <a:tr h="1470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Pengisian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SIMPEL PPU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Rp3.000.000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Rp12.000.000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2359010878"/>
                  </a:ext>
                </a:extLst>
              </a:tr>
              <a:tr h="205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Pengisian SIMPEL KETENTUAN TEKNIS SPEED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Rp3.000.000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Rp6.000.000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673080151"/>
                  </a:ext>
                </a:extLst>
              </a:tr>
              <a:tr h="205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Pengisian SIMPEL SAMPAH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Rp3.000.000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Rp6.000.000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1818441365"/>
                  </a:ext>
                </a:extLst>
              </a:tr>
              <a:tr h="205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6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Pengisian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SIMPEL B3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Rp3.000.000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Rp6.000.000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1746753946"/>
                  </a:ext>
                </a:extLst>
              </a:tr>
              <a:tr h="205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Regulasi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Peraturan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Bulan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Rp. 20.000.000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Rp. 20.000.000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2088491129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Sub Total :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Rp50.000.000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2357835462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TOTAL I: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Rp50.000.000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2676251674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33664146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58738642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832988989"/>
                  </a:ext>
                </a:extLst>
              </a:tr>
              <a:tr h="14674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II.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Biaya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Langsung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Non-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personil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3667625047"/>
                  </a:ext>
                </a:extLst>
              </a:tr>
              <a:tr h="14674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Konsultasi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PROPER </a:t>
                      </a:r>
                      <a:endParaRPr lang="en-ID" sz="10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1445213955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No.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Kegiatan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Jumlah 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Periode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Harga Satuan (Rp)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Jumlah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Harga (Rp)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43938594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000" b="1" u="none" strike="noStrike">
                          <a:effectLst/>
                          <a:latin typeface="+mn-lt"/>
                        </a:rPr>
                        <a:t>Konsultasi PROPER (KLHK) 2025 -2026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              10.000.000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20.000.000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014010672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Sub Total :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             20.000.000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2629591142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b"/>
                </a:tc>
                <a:extLst>
                  <a:ext uri="{0D108BD9-81ED-4DB2-BD59-A6C34878D82A}">
                    <a16:rowId xmlns:a16="http://schemas.microsoft.com/office/drawing/2014/main" val="203258862"/>
                  </a:ext>
                </a:extLst>
              </a:tr>
              <a:tr h="146743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REKAPITULASI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926230211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No.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JENIS STUDI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JUMLAH BIAYA (Rp)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684163378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I.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Biaya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Langsung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Personil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790334231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Pengisian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SIMPEL dan Update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Regulasi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                                         50.000.000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057679017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II.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Biaya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Langsung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Non-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Personil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722989879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en-ID" sz="1000" b="1" u="none" strike="noStrike" dirty="0" err="1">
                          <a:effectLst/>
                          <a:latin typeface="+mn-lt"/>
                        </a:rPr>
                        <a:t>Konsultasi</a:t>
                      </a: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PROPER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                                           20.000.000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17786364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JUMLAH SELURUH BIAYA (I + II)                          :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u="none" strike="noStrike" dirty="0">
                          <a:effectLst/>
                          <a:latin typeface="+mn-lt"/>
                        </a:rPr>
                        <a:t>                                                  70.000.000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2517938430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DISKON                                                                     :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                          12.000.000                              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1846291917"/>
                  </a:ext>
                </a:extLst>
              </a:tr>
              <a:tr h="1467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AFTER DISKON 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                      Rp. 58.000.000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127" marR="3127" marT="3127" marB="0" anchor="ctr"/>
                </a:tc>
                <a:extLst>
                  <a:ext uri="{0D108BD9-81ED-4DB2-BD59-A6C34878D82A}">
                    <a16:rowId xmlns:a16="http://schemas.microsoft.com/office/drawing/2014/main" val="3455597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35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C672B-095E-9166-D422-F57DE00C1D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3806822"/>
            <a:ext cx="2748280" cy="15076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89AC67-B5AB-4373-A135-D1F7544A5684}"/>
              </a:ext>
            </a:extLst>
          </p:cNvPr>
          <p:cNvSpPr txBox="1"/>
          <p:nvPr/>
        </p:nvSpPr>
        <p:spPr>
          <a:xfrm>
            <a:off x="393231" y="722176"/>
            <a:ext cx="8308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Persetujuan</a:t>
            </a:r>
            <a:r>
              <a:rPr lang="en-US" altLang="ko-KR" sz="3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Proposal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9A59D-C293-6735-1F68-06376EEF9DAC}"/>
              </a:ext>
            </a:extLst>
          </p:cNvPr>
          <p:cNvSpPr txBox="1"/>
          <p:nvPr/>
        </p:nvSpPr>
        <p:spPr>
          <a:xfrm>
            <a:off x="411519" y="1544665"/>
            <a:ext cx="1152648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charset="0"/>
              <a:buNone/>
              <a:defRPr/>
            </a:pPr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</a:rPr>
              <a:t>SENTRAL SUSTAINABILITY CONSULTING </a:t>
            </a:r>
            <a:r>
              <a:rPr lang="id-ID" b="1" dirty="0">
                <a:latin typeface="Cambria" panose="02040503050406030204" pitchFamily="18" charset="0"/>
                <a:ea typeface="Cambria" panose="02040503050406030204" pitchFamily="18" charset="0"/>
              </a:rPr>
              <a:t>(PT. SENTRAL TEHNOLOGI MANAGEMEN)</a:t>
            </a: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bersedia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mengadakan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kerjasama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lebih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lanjut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mengenai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masalah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i="1" dirty="0" err="1">
                <a:latin typeface="Cambria" panose="02040503050406030204" pitchFamily="18" charset="0"/>
                <a:ea typeface="Cambria" panose="02040503050406030204" pitchFamily="18" charset="0"/>
              </a:rPr>
              <a:t>technical</a:t>
            </a:r>
            <a:r>
              <a:rPr lang="es-ES" i="1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s-ES" i="1" dirty="0" err="1">
                <a:latin typeface="Cambria" panose="02040503050406030204" pitchFamily="18" charset="0"/>
                <a:ea typeface="Cambria" panose="02040503050406030204" pitchFamily="18" charset="0"/>
              </a:rPr>
              <a:t>commercial</a:t>
            </a:r>
            <a:r>
              <a:rPr lang="es-E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sehubungan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dengan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proposal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ini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id-ID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Arial" charset="0"/>
              <a:buNone/>
              <a:defRPr/>
            </a:pPr>
            <a:endParaRPr lang="id-ID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defRPr/>
            </a:pP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Jika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Pihak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PT Sekisui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Polymatech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Indonsai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setuju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dengan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penawaran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ini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silahkan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Bapak/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Ibu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menandatangani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persetujuan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ini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mengembalikannya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kepada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ES" dirty="0" err="1">
                <a:latin typeface="Cambria" panose="02040503050406030204" pitchFamily="18" charset="0"/>
                <a:ea typeface="Cambria" panose="02040503050406030204" pitchFamily="18" charset="0"/>
              </a:rPr>
              <a:t>kami</a:t>
            </a:r>
            <a:r>
              <a:rPr lang="es-E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Kami akan mengirimkan perjanjian kontrak yang akan ditandatangani bersama. </a:t>
            </a:r>
          </a:p>
          <a:p>
            <a:pPr>
              <a:defRPr/>
            </a:pP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>
              <a:defRPr/>
            </a:pPr>
            <a:r>
              <a:rPr lang="id-ID" b="1" dirty="0">
                <a:latin typeface="Cambria" panose="02040503050406030204" pitchFamily="18" charset="0"/>
                <a:ea typeface="Cambria" panose="02040503050406030204" pitchFamily="18" charset="0"/>
              </a:rPr>
              <a:t>Jakarta,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22 April 2026				            CIKARANG ……………………..</a:t>
            </a:r>
            <a:r>
              <a:rPr lang="id-ID" b="1" dirty="0">
                <a:latin typeface="Cambria" panose="02040503050406030204" pitchFamily="18" charset="0"/>
                <a:ea typeface="Cambria" panose="02040503050406030204" pitchFamily="18" charset="0"/>
              </a:rPr>
              <a:t>					 </a:t>
            </a:r>
            <a:endParaRPr lang="id-ID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/>
            </a:pP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/>
            </a:pPr>
            <a:endParaRPr lang="id-ID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/>
            </a:pPr>
            <a:r>
              <a:rPr lang="id-ID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>
              <a:defRPr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</a:t>
            </a:r>
            <a:r>
              <a:rPr lang="en-US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Masika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Arinal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	                            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</a:t>
            </a:r>
            <a:endParaRPr lang="id-ID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/>
            </a:pPr>
            <a:r>
              <a:rPr lang="id-ID" b="1" dirty="0">
                <a:latin typeface="Cambria" panose="02040503050406030204" pitchFamily="18" charset="0"/>
                <a:ea typeface="Cambria" panose="02040503050406030204" pitchFamily="18" charset="0"/>
              </a:rPr>
              <a:t>PT.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SENTRAL SUSTAINABILTY CONSULTING  	                                                PT SEKISUI POLYMATECH INDONESIA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476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-317633" y="4983996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22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D66C"/>
      </a:accent1>
      <a:accent2>
        <a:srgbClr val="FBE034"/>
      </a:accent2>
      <a:accent3>
        <a:srgbClr val="96C8E9"/>
      </a:accent3>
      <a:accent4>
        <a:srgbClr val="FFA246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2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D66C"/>
      </a:accent1>
      <a:accent2>
        <a:srgbClr val="96C8E9"/>
      </a:accent2>
      <a:accent3>
        <a:srgbClr val="FBE034"/>
      </a:accent3>
      <a:accent4>
        <a:srgbClr val="FFA246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22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D66C"/>
      </a:accent1>
      <a:accent2>
        <a:srgbClr val="FBE034"/>
      </a:accent2>
      <a:accent3>
        <a:srgbClr val="96C8E9"/>
      </a:accent3>
      <a:accent4>
        <a:srgbClr val="FFA246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8643</TotalTime>
  <Words>714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Sentral Lenovo ip3i</cp:lastModifiedBy>
  <cp:revision>1425</cp:revision>
  <cp:lastPrinted>2026-04-22T03:09:33Z</cp:lastPrinted>
  <dcterms:created xsi:type="dcterms:W3CDTF">2020-01-20T05:08:25Z</dcterms:created>
  <dcterms:modified xsi:type="dcterms:W3CDTF">2026-04-27T04:40:43Z</dcterms:modified>
</cp:coreProperties>
</file>